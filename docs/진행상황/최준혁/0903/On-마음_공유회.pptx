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9" r:id="rId4"/>
    <p:sldId id="271" r:id="rId5"/>
    <p:sldId id="258" r:id="rId6"/>
    <p:sldId id="276" r:id="rId7"/>
    <p:sldId id="277" r:id="rId8"/>
    <p:sldId id="279" r:id="rId9"/>
    <p:sldId id="278" r:id="rId10"/>
    <p:sldId id="261" r:id="rId11"/>
    <p:sldId id="280" r:id="rId12"/>
    <p:sldId id="273" r:id="rId13"/>
    <p:sldId id="274" r:id="rId14"/>
    <p:sldId id="275" r:id="rId15"/>
    <p:sldId id="260" r:id="rId16"/>
    <p:sldId id="281" r:id="rId17"/>
    <p:sldId id="282" r:id="rId18"/>
    <p:sldId id="283" r:id="rId19"/>
    <p:sldId id="272" r:id="rId20"/>
    <p:sldId id="264" r:id="rId21"/>
    <p:sldId id="265" r:id="rId22"/>
    <p:sldId id="266" r:id="rId23"/>
    <p:sldId id="267" r:id="rId24"/>
    <p:sldId id="268" r:id="rId25"/>
    <p:sldId id="269" r:id="rId26"/>
    <p:sldId id="270" r:id="rId27"/>
  </p:sldIdLst>
  <p:sldSz cx="24384000" cy="13716000"/>
  <p:notesSz cx="6858000" cy="9144000"/>
  <p:embeddedFontLst>
    <p:embeddedFont>
      <p:font typeface="Pretendard Bold" panose="020B0600000101010101" charset="-127"/>
      <p:bold r:id="rId29"/>
    </p:embeddedFont>
    <p:embeddedFont>
      <p:font typeface="Pretendard Regular" panose="020B0600000101010101" charset="-127"/>
      <p:regular r:id="rId30"/>
    </p:embeddedFont>
    <p:embeddedFont>
      <p:font typeface="Pretendard SemiBold" panose="020B0600000101010101" charset="-127"/>
      <p:bold r:id="rId31"/>
    </p:embeddedFont>
    <p:embeddedFont>
      <p:font typeface="SB AggroOTF Medium" panose="020B0600000101010101" charset="-127"/>
      <p:regular r:id="rId32"/>
    </p:embeddedFont>
    <p:embeddedFont>
      <p:font typeface="Calibri" panose="020F0502020204030204" pitchFamily="34" charset="0"/>
      <p:regular r:id="rId33"/>
      <p:bold r:id="rId34"/>
      <p:italic r:id="rId35"/>
      <p:boldItalic r:id="rId36"/>
    </p:embeddedFont>
    <p:embeddedFont>
      <p:font typeface="Noto Sans KR" panose="020B0200000000000000" pitchFamily="50" charset="-127"/>
      <p:regular r:id="rId37"/>
      <p:bold r:id="rId38"/>
    </p:embeddedFont>
    <p:embeddedFont>
      <p:font typeface="Noto Sans KR Black" panose="020B0200000000000000" pitchFamily="50" charset="-127"/>
      <p:bold r:id="rId39"/>
    </p:embeddedFont>
    <p:embeddedFont>
      <p:font typeface="Noto Sans KR Medium" panose="020B0200000000000000" pitchFamily="50" charset="-127"/>
      <p:regular r:id="rId40"/>
    </p:embeddedFont>
    <p:embeddedFont>
      <p:font typeface="맑은 고딕" panose="020B0503020000020004" pitchFamily="50" charset="-127"/>
      <p:regular r:id="rId41"/>
      <p:bold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846B"/>
    <a:srgbClr val="595959"/>
    <a:srgbClr val="FFFFFF"/>
    <a:srgbClr val="1A1A1A"/>
    <a:srgbClr val="787878"/>
    <a:srgbClr val="B7B7B7"/>
    <a:srgbClr val="EEEEEE"/>
    <a:srgbClr val="4A7C74"/>
    <a:srgbClr val="002D9C"/>
    <a:srgbClr val="0F62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5338" autoAdjust="0"/>
  </p:normalViewPr>
  <p:slideViewPr>
    <p:cSldViewPr>
      <p:cViewPr varScale="1">
        <p:scale>
          <a:sx n="43" d="100"/>
          <a:sy n="43" d="100"/>
        </p:scale>
        <p:origin x="429" y="5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083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C954BA-96EC-475E-81D8-290A48949EF7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25E933-0CC7-46C6-A88E-FF70C931B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9891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5E933-0CC7-46C6-A88E-FF70C931B08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95955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5E933-0CC7-46C6-A88E-FF70C931B08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73910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하나의 큰 애플리케이션을 작고 독립적으로 배포 가능한 여러 개의 서비스 단위로 쪼개어 구성하는 소프트웨어 개발 아키텍처 스타일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5E933-0CC7-46C6-A88E-FF70C931B088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51465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5E933-0CC7-46C6-A88E-FF70C931B088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3946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5E933-0CC7-46C6-A88E-FF70C931B08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5273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5E933-0CC7-46C6-A88E-FF70C931B088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04294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5E933-0CC7-46C6-A88E-FF70C931B088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49654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5E933-0CC7-46C6-A88E-FF70C931B088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13948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5E933-0CC7-46C6-A88E-FF70C931B088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57182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5E933-0CC7-46C6-A88E-FF70C931B088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76094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5E933-0CC7-46C6-A88E-FF70C931B088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52822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5E933-0CC7-46C6-A88E-FF70C931B088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64149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읽고만</a:t>
            </a:r>
            <a:r>
              <a:rPr lang="ko-KR" altLang="en-US" dirty="0"/>
              <a:t> 넘어가기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5E933-0CC7-46C6-A88E-FF70C931B088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94752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사용 이유 설명 만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5E933-0CC7-46C6-A88E-FF70C931B088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427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2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2.png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.png"/><Relationship Id="rId9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2.png"/><Relationship Id="rId10" Type="http://schemas.openxmlformats.org/officeDocument/2006/relationships/image" Target="../media/image38.png"/><Relationship Id="rId4" Type="http://schemas.openxmlformats.org/officeDocument/2006/relationships/image" Target="../media/image29.png"/><Relationship Id="rId9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2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42.png"/><Relationship Id="rId7" Type="http://schemas.openxmlformats.org/officeDocument/2006/relationships/image" Target="../media/image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3" Type="http://schemas.openxmlformats.org/officeDocument/2006/relationships/image" Target="../media/image10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2.png"/><Relationship Id="rId9" Type="http://schemas.openxmlformats.org/officeDocument/2006/relationships/image" Target="../media/image51.png"/><Relationship Id="rId14" Type="http://schemas.openxmlformats.org/officeDocument/2006/relationships/image" Target="../media/image5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29.png"/><Relationship Id="rId7" Type="http://schemas.openxmlformats.org/officeDocument/2006/relationships/image" Target="../media/image5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2.png"/><Relationship Id="rId9" Type="http://schemas.openxmlformats.org/officeDocument/2006/relationships/image" Target="../media/image6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8.png"/><Relationship Id="rId7" Type="http://schemas.openxmlformats.org/officeDocument/2006/relationships/image" Target="../media/image6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.png"/><Relationship Id="rId9" Type="http://schemas.openxmlformats.org/officeDocument/2006/relationships/image" Target="../media/image6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10.png"/><Relationship Id="rId7" Type="http://schemas.openxmlformats.org/officeDocument/2006/relationships/image" Target="../media/image6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2.png"/><Relationship Id="rId9" Type="http://schemas.openxmlformats.org/officeDocument/2006/relationships/image" Target="../media/image7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39.png"/><Relationship Id="rId3" Type="http://schemas.openxmlformats.org/officeDocument/2006/relationships/image" Target="../media/image71.png"/><Relationship Id="rId7" Type="http://schemas.openxmlformats.org/officeDocument/2006/relationships/image" Target="../media/image35.png"/><Relationship Id="rId12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11" Type="http://schemas.openxmlformats.org/officeDocument/2006/relationships/image" Target="../media/image74.png"/><Relationship Id="rId5" Type="http://schemas.openxmlformats.org/officeDocument/2006/relationships/image" Target="../media/image34.png"/><Relationship Id="rId10" Type="http://schemas.openxmlformats.org/officeDocument/2006/relationships/image" Target="../media/image36.png"/><Relationship Id="rId4" Type="http://schemas.openxmlformats.org/officeDocument/2006/relationships/image" Target="../media/image2.png"/><Relationship Id="rId9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" y="990600"/>
            <a:ext cx="22212300" cy="119253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898900" y="6172200"/>
            <a:ext cx="16586200" cy="2260600"/>
          </a:xfrm>
          <a:prstGeom prst="rect">
            <a:avLst/>
          </a:prstGeom>
        </p:spPr>
        <p:txBody>
          <a:bodyPr lIns="0" tIns="159169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altLang="ko-KR" sz="12533" dirty="0">
                <a:solidFill>
                  <a:srgbClr val="595959"/>
                </a:solidFill>
                <a:latin typeface="SB AggroOTF Medium"/>
                <a:ea typeface="SB AggroOTF Medium"/>
                <a:cs typeface="SB AggroOTF Medium"/>
              </a:rPr>
              <a:t>ON-</a:t>
            </a:r>
            <a:r>
              <a:rPr lang="ko-KR" altLang="en-US" sz="12533" b="0" i="0" u="none" strike="noStrike" dirty="0">
                <a:solidFill>
                  <a:srgbClr val="595959"/>
                </a:solidFill>
                <a:latin typeface="SB AggroOTF Medium"/>
                <a:ea typeface="SB AggroOTF Medium"/>
                <a:cs typeface="SB AggroOTF Medium"/>
              </a:rPr>
              <a:t>마음</a:t>
            </a:r>
            <a:endParaRPr lang="en-US" sz="12533" b="0" i="0" u="none" strike="noStrike" dirty="0">
              <a:solidFill>
                <a:srgbClr val="595959"/>
              </a:solidFill>
              <a:latin typeface="SB AggroOTF Medium"/>
              <a:ea typeface="SB AggroOTF Medium"/>
              <a:cs typeface="SB AggroOTF Medium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2374900"/>
            <a:ext cx="21628100" cy="38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3900" y="4826000"/>
            <a:ext cx="5016500" cy="8382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0033000" y="4965700"/>
            <a:ext cx="4191000" cy="5080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666" b="0" i="0" u="none" strike="noStrike" spc="400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NILM-NALM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69300" y="12407900"/>
            <a:ext cx="7645400" cy="406400"/>
          </a:xfrm>
          <a:prstGeom prst="rect">
            <a:avLst/>
          </a:prstGeom>
        </p:spPr>
        <p:txBody>
          <a:bodyPr lIns="0" tIns="13546" rIns="0" bIns="0" rtlCol="0" anchor="t"/>
          <a:lstStyle/>
          <a:p>
            <a:pPr lvl="0" algn="ctr">
              <a:lnSpc>
                <a:spcPct val="107899"/>
              </a:lnSpc>
            </a:pPr>
            <a:endParaRPr lang="en-US" sz="2133" b="0" i="0" u="none" strike="noStrike" spc="1200" dirty="0">
              <a:solidFill>
                <a:srgbClr val="EEEEEE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562100" y="1600200"/>
            <a:ext cx="3822700" cy="381000"/>
          </a:xfrm>
          <a:prstGeom prst="rect">
            <a:avLst/>
          </a:prstGeom>
        </p:spPr>
        <p:txBody>
          <a:bodyPr lIns="0" tIns="127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1999" b="1" i="0" u="none" strike="noStrike" dirty="0">
                <a:solidFill>
                  <a:srgbClr val="78787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NILM-NALM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78600" y="8394700"/>
            <a:ext cx="11226800" cy="977900"/>
          </a:xfrm>
          <a:prstGeom prst="rect">
            <a:avLst/>
          </a:prstGeom>
        </p:spPr>
        <p:txBody>
          <a:bodyPr lIns="0" tIns="67732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5333" dirty="0">
                <a:solidFill>
                  <a:srgbClr val="787878"/>
                </a:solidFill>
                <a:latin typeface="Pretendard Bold"/>
                <a:ea typeface="Pretendard Bold"/>
                <a:cs typeface="Pretendard Bold"/>
              </a:rPr>
              <a:t>D201</a:t>
            </a:r>
            <a:endParaRPr lang="en-US" sz="5333" b="0" i="0" u="none" strike="noStrike" dirty="0">
              <a:solidFill>
                <a:srgbClr val="787878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06292540-DE5A-40E7-936F-07F3E0AE07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100" y="12280900"/>
            <a:ext cx="23037800" cy="774700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0B8B13D5-7CDB-4717-B5E7-C3699823C4A8}"/>
              </a:ext>
            </a:extLst>
          </p:cNvPr>
          <p:cNvSpPr/>
          <p:nvPr/>
        </p:nvSpPr>
        <p:spPr>
          <a:xfrm>
            <a:off x="-1524000" y="304800"/>
            <a:ext cx="1066800" cy="1143000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595959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20681C2-8A80-42E2-8165-AD141E72CDA1}"/>
              </a:ext>
            </a:extLst>
          </p:cNvPr>
          <p:cNvSpPr/>
          <p:nvPr/>
        </p:nvSpPr>
        <p:spPr>
          <a:xfrm>
            <a:off x="-1524000" y="1600200"/>
            <a:ext cx="1066800" cy="1143000"/>
          </a:xfrm>
          <a:prstGeom prst="rect">
            <a:avLst/>
          </a:prstGeom>
          <a:solidFill>
            <a:srgbClr val="78787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F7EA541-8C0D-49B3-B873-325A2D2D43AD}"/>
              </a:ext>
            </a:extLst>
          </p:cNvPr>
          <p:cNvSpPr/>
          <p:nvPr/>
        </p:nvSpPr>
        <p:spPr>
          <a:xfrm>
            <a:off x="-1524000" y="2895600"/>
            <a:ext cx="1066800" cy="11430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" y="990600"/>
            <a:ext cx="22212300" cy="11925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" y="12280900"/>
            <a:ext cx="23037800" cy="77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7800" y="2374900"/>
            <a:ext cx="21628100" cy="381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562100" y="1600200"/>
            <a:ext cx="3822700" cy="381000"/>
          </a:xfrm>
          <a:prstGeom prst="rect">
            <a:avLst/>
          </a:prstGeom>
        </p:spPr>
        <p:txBody>
          <a:bodyPr lIns="0" tIns="127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altLang="ko-KR" sz="1999" b="1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NILM-NALM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6800" y="9486900"/>
            <a:ext cx="3581400" cy="38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6800" y="7048500"/>
            <a:ext cx="1041400" cy="10414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7518400" y="7291349"/>
            <a:ext cx="825500" cy="558800"/>
          </a:xfrm>
          <a:prstGeom prst="rect">
            <a:avLst/>
          </a:prstGeom>
        </p:spPr>
        <p:txBody>
          <a:bodyPr lIns="0" tIns="18626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2933" b="0" i="0" u="none" strike="noStrike" dirty="0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38900" y="8699500"/>
            <a:ext cx="2997200" cy="571500"/>
          </a:xfrm>
          <a:prstGeom prst="rect">
            <a:avLst/>
          </a:prstGeom>
        </p:spPr>
        <p:txBody>
          <a:bodyPr lIns="0" tIns="19473" rIns="0" bIns="0" rtlCol="0" anchor="t"/>
          <a:lstStyle/>
          <a:p>
            <a:pPr lvl="0" algn="ctr">
              <a:lnSpc>
                <a:spcPct val="107899"/>
              </a:lnSpc>
            </a:pPr>
            <a:r>
              <a:rPr lang="ko-KR" altLang="en-US" sz="3066" b="0" i="0" u="none" strike="noStrike" dirty="0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기획 개요</a:t>
            </a:r>
            <a:endParaRPr lang="en-US" sz="3066" b="0" i="0" u="none" strike="noStrike" dirty="0">
              <a:solidFill>
                <a:srgbClr val="595959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134100" y="9817100"/>
            <a:ext cx="3606800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49400"/>
              </a:lnSpc>
            </a:pPr>
            <a:r>
              <a:rPr lang="en-US" sz="2466" b="1" i="0" u="none" strike="noStrike" dirty="0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·  </a:t>
            </a:r>
            <a:r>
              <a:rPr lang="en-US" sz="2466" b="1" dirty="0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NILM</a:t>
            </a:r>
            <a:endParaRPr lang="en-US" sz="2466" b="1" i="0" u="none" strike="noStrike" dirty="0">
              <a:solidFill>
                <a:srgbClr val="787878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ctr">
              <a:lnSpc>
                <a:spcPct val="149400"/>
              </a:lnSpc>
            </a:pPr>
            <a:r>
              <a:rPr lang="en-US" sz="2466" b="1" i="0" u="none" strike="noStrike" dirty="0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·  </a:t>
            </a:r>
            <a:r>
              <a:rPr lang="ko-KR" altLang="en-US" sz="2466" b="1" dirty="0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모니터링 서비스</a:t>
            </a:r>
            <a:endParaRPr lang="en-US" sz="2466" b="1" i="0" u="none" strike="noStrike" dirty="0">
              <a:solidFill>
                <a:srgbClr val="787878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82250" y="9486900"/>
            <a:ext cx="3594100" cy="38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671300" y="7048500"/>
            <a:ext cx="1041400" cy="10414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1779250" y="7310244"/>
            <a:ext cx="825500" cy="558800"/>
          </a:xfrm>
          <a:prstGeom prst="rect">
            <a:avLst/>
          </a:prstGeom>
        </p:spPr>
        <p:txBody>
          <a:bodyPr lIns="0" tIns="18626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2933" b="0" i="0" u="none" strike="noStrike" dirty="0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39400" y="8699500"/>
            <a:ext cx="3479800" cy="571500"/>
          </a:xfrm>
          <a:prstGeom prst="rect">
            <a:avLst/>
          </a:prstGeom>
        </p:spPr>
        <p:txBody>
          <a:bodyPr lIns="0" tIns="19473" rIns="0" bIns="0" rtlCol="0" anchor="t"/>
          <a:lstStyle/>
          <a:p>
            <a:pPr lvl="0" algn="ctr">
              <a:lnSpc>
                <a:spcPct val="107899"/>
              </a:lnSpc>
            </a:pPr>
            <a:r>
              <a:rPr lang="ko-KR" altLang="en-US" sz="3066" dirty="0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진행 현황</a:t>
            </a:r>
            <a:endParaRPr lang="en-US" sz="3066" b="0" i="0" u="none" strike="noStrike" dirty="0">
              <a:solidFill>
                <a:srgbClr val="595959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375900" y="9817100"/>
            <a:ext cx="3606800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49400"/>
              </a:lnSpc>
            </a:pPr>
            <a:r>
              <a:rPr lang="en-US" sz="2466" b="1" i="0" u="none" strike="noStrike" dirty="0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·  </a:t>
            </a:r>
            <a:r>
              <a:rPr lang="ko-KR" altLang="en-US" sz="2466" b="1" dirty="0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소프트웨어 설계</a:t>
            </a:r>
            <a:endParaRPr lang="en-US" sz="2466" b="1" i="0" u="none" strike="noStrike" dirty="0">
              <a:solidFill>
                <a:srgbClr val="787878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ctr">
              <a:lnSpc>
                <a:spcPct val="149400"/>
              </a:lnSpc>
            </a:pPr>
            <a:r>
              <a:rPr lang="en-US" sz="2466" b="1" i="0" u="none" strike="noStrike" dirty="0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·  </a:t>
            </a:r>
            <a:r>
              <a:rPr lang="ko-KR" altLang="en-US" sz="2466" b="1" i="0" u="none" strike="noStrike" dirty="0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시뮬레이터</a:t>
            </a:r>
            <a:endParaRPr lang="en-US" sz="2466" b="1" i="0" u="none" strike="noStrike" dirty="0">
              <a:solidFill>
                <a:srgbClr val="787878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30400" y="9486900"/>
            <a:ext cx="3581400" cy="38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900400" y="7048500"/>
            <a:ext cx="1041400" cy="1041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6014700" y="7289800"/>
            <a:ext cx="825500" cy="558800"/>
          </a:xfrm>
          <a:prstGeom prst="rect">
            <a:avLst/>
          </a:prstGeom>
        </p:spPr>
        <p:txBody>
          <a:bodyPr lIns="0" tIns="18626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2933" b="0" i="0" u="none" strike="noStrike" dirty="0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744700" y="8699500"/>
            <a:ext cx="3352800" cy="571500"/>
          </a:xfrm>
          <a:prstGeom prst="rect">
            <a:avLst/>
          </a:prstGeom>
        </p:spPr>
        <p:txBody>
          <a:bodyPr lIns="0" tIns="19473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altLang="ko-KR" sz="3066" b="0" i="0" u="none" strike="noStrike" dirty="0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AI</a:t>
            </a:r>
            <a:endParaRPr lang="en-US" sz="3066" b="0" i="0" u="none" strike="noStrike" dirty="0">
              <a:solidFill>
                <a:srgbClr val="595959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4617700" y="9817100"/>
            <a:ext cx="3606800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49400"/>
              </a:lnSpc>
            </a:pPr>
            <a:r>
              <a:rPr lang="en-US" sz="2466" b="1" i="0" u="none" strike="noStrike" dirty="0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·  TCN</a:t>
            </a:r>
          </a:p>
          <a:p>
            <a:pPr lvl="0" algn="ctr">
              <a:lnSpc>
                <a:spcPct val="149400"/>
              </a:lnSpc>
            </a:pPr>
            <a:r>
              <a:rPr lang="en-US" sz="2466" b="1" i="0" u="none" strike="noStrike" dirty="0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·  </a:t>
            </a:r>
            <a:r>
              <a:rPr lang="en-US" sz="2466" b="1" dirty="0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K</a:t>
            </a:r>
            <a:endParaRPr lang="en-US" sz="2466" b="1" i="0" u="none" strike="noStrike" dirty="0">
              <a:solidFill>
                <a:srgbClr val="787878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7772400" y="3873500"/>
            <a:ext cx="8839200" cy="1574800"/>
          </a:xfrm>
          <a:prstGeom prst="rect">
            <a:avLst/>
          </a:prstGeom>
        </p:spPr>
        <p:txBody>
          <a:bodyPr lIns="0" tIns="55032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8666" b="0" i="0" u="none" strike="noStrike" dirty="0">
                <a:solidFill>
                  <a:srgbClr val="595959"/>
                </a:solidFill>
                <a:latin typeface="SB AggroOTF Medium"/>
                <a:ea typeface="SB AggroOTF Medium"/>
                <a:cs typeface="SB AggroOTF Medium"/>
              </a:rPr>
              <a:t>CONTENTS</a:t>
            </a:r>
          </a:p>
        </p:txBody>
      </p:sp>
      <p:sp>
        <p:nvSpPr>
          <p:cNvPr id="33" name="TextBox 10">
            <a:extLst>
              <a:ext uri="{FF2B5EF4-FFF2-40B4-BE49-F238E27FC236}">
                <a16:creationId xmlns:a16="http://schemas.microsoft.com/office/drawing/2014/main" id="{843D1A62-CE75-44E7-A5BB-292A4D8AE291}"/>
              </a:ext>
            </a:extLst>
          </p:cNvPr>
          <p:cNvSpPr txBox="1"/>
          <p:nvPr/>
        </p:nvSpPr>
        <p:spPr>
          <a:xfrm>
            <a:off x="19011900" y="1600200"/>
            <a:ext cx="3848100" cy="381000"/>
          </a:xfrm>
          <a:prstGeom prst="rect">
            <a:avLst/>
          </a:prstGeom>
        </p:spPr>
        <p:txBody>
          <a:bodyPr lIns="0" tIns="12700" rIns="0" bIns="0" rtlCol="0" anchor="t"/>
          <a:lstStyle/>
          <a:p>
            <a:pPr lvl="0" algn="r">
              <a:lnSpc>
                <a:spcPct val="107899"/>
              </a:lnSpc>
            </a:pPr>
            <a:r>
              <a:rPr lang="en-US" sz="1999" b="0" i="0" u="none" strike="noStrike" dirty="0">
                <a:solidFill>
                  <a:srgbClr val="595959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retendard Regula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" y="990600"/>
            <a:ext cx="22212300" cy="11925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12280900"/>
            <a:ext cx="23037800" cy="77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260600"/>
            <a:ext cx="21628100" cy="381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562100" y="1600200"/>
            <a:ext cx="3822700" cy="381000"/>
          </a:xfrm>
          <a:prstGeom prst="rect">
            <a:avLst/>
          </a:prstGeom>
        </p:spPr>
        <p:txBody>
          <a:bodyPr lIns="0" tIns="127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altLang="ko-KR" sz="1999" b="1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NILM-NALM</a:t>
            </a:r>
          </a:p>
        </p:txBody>
      </p:sp>
      <p:sp>
        <p:nvSpPr>
          <p:cNvPr id="27" name="TextBox 12">
            <a:extLst>
              <a:ext uri="{FF2B5EF4-FFF2-40B4-BE49-F238E27FC236}">
                <a16:creationId xmlns:a16="http://schemas.microsoft.com/office/drawing/2014/main" id="{D7E12401-FCDF-4D5D-BD34-AD86176D8680}"/>
              </a:ext>
            </a:extLst>
          </p:cNvPr>
          <p:cNvSpPr txBox="1"/>
          <p:nvPr/>
        </p:nvSpPr>
        <p:spPr>
          <a:xfrm>
            <a:off x="8629650" y="4124790"/>
            <a:ext cx="7137400" cy="1308100"/>
          </a:xfrm>
          <a:prstGeom prst="rect">
            <a:avLst/>
          </a:prstGeom>
        </p:spPr>
        <p:txBody>
          <a:bodyPr lIns="0" tIns="45719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7198" b="1" i="0" u="none" strike="noStrike" dirty="0">
                <a:solidFill>
                  <a:srgbClr val="E8846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SB AggroOTF Medium"/>
              </a:rPr>
              <a:t>On-</a:t>
            </a:r>
            <a:r>
              <a:rPr lang="ko-KR" altLang="en-US" sz="7198" b="1" i="0" u="none" strike="noStrike" dirty="0">
                <a:solidFill>
                  <a:srgbClr val="E8846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B AggroOTF Medium"/>
              </a:rPr>
              <a:t>마음</a:t>
            </a:r>
            <a:endParaRPr lang="en-US" sz="7198" b="1" i="0" u="none" strike="noStrike" dirty="0">
              <a:solidFill>
                <a:srgbClr val="E8846B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SB AggroOTF Medium"/>
            </a:endParaRPr>
          </a:p>
        </p:txBody>
      </p:sp>
      <p:sp>
        <p:nvSpPr>
          <p:cNvPr id="30" name="TextBox 12">
            <a:extLst>
              <a:ext uri="{FF2B5EF4-FFF2-40B4-BE49-F238E27FC236}">
                <a16:creationId xmlns:a16="http://schemas.microsoft.com/office/drawing/2014/main" id="{3AC405C9-BD8F-43F9-8848-DB76FA25C4CA}"/>
              </a:ext>
            </a:extLst>
          </p:cNvPr>
          <p:cNvSpPr txBox="1"/>
          <p:nvPr/>
        </p:nvSpPr>
        <p:spPr>
          <a:xfrm>
            <a:off x="1542047" y="6146800"/>
            <a:ext cx="21628100" cy="3653960"/>
          </a:xfrm>
          <a:prstGeom prst="rect">
            <a:avLst/>
          </a:prstGeom>
        </p:spPr>
        <p:txBody>
          <a:bodyPr lIns="0" tIns="45719" rIns="0" bIns="0" rtlCol="0" anchor="t"/>
          <a:lstStyle/>
          <a:p>
            <a:pPr algn="ctr"/>
            <a:r>
              <a:rPr lang="ko-KR" altLang="en-US" sz="6600" b="1" dirty="0">
                <a:ln>
                  <a:solidFill>
                    <a:srgbClr val="1D9BE6">
                      <a:alpha val="0"/>
                    </a:srgbClr>
                  </a:solidFill>
                </a:ln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고해상도 전력 데이터를 </a:t>
            </a:r>
            <a:r>
              <a:rPr lang="en-US" altLang="ko-KR" sz="6600" b="1" dirty="0">
                <a:ln>
                  <a:solidFill>
                    <a:srgbClr val="1D9BE6">
                      <a:alpha val="0"/>
                    </a:srgbClr>
                  </a:solidFill>
                </a:ln>
                <a:solidFill>
                  <a:srgbClr val="E8846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NILM</a:t>
            </a:r>
            <a:r>
              <a:rPr lang="ko-KR" altLang="en-US" sz="6600" b="1" dirty="0">
                <a:ln>
                  <a:solidFill>
                    <a:srgbClr val="1D9BE6">
                      <a:alpha val="0"/>
                    </a:srgbClr>
                  </a:solidFill>
                </a:ln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으로 분석해</a:t>
            </a:r>
            <a:endParaRPr lang="en-US" altLang="ko-KR" sz="6600" b="1" dirty="0">
              <a:ln>
                <a:solidFill>
                  <a:srgbClr val="1D9BE6">
                    <a:alpha val="0"/>
                  </a:srgbClr>
                </a:solidFill>
              </a:ln>
              <a:solidFill>
                <a:srgbClr val="595959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en-US" altLang="ko-KR" sz="6600" b="1" dirty="0">
                <a:ln>
                  <a:solidFill>
                    <a:srgbClr val="1D9BE6">
                      <a:alpha val="0"/>
                    </a:srgbClr>
                  </a:solidFill>
                </a:ln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6600" b="1" dirty="0">
                <a:ln>
                  <a:solidFill>
                    <a:srgbClr val="1D9BE6">
                      <a:alpha val="0"/>
                    </a:srgbClr>
                  </a:solidFill>
                </a:ln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인가구의 이상 징후와 위험 상황을 빠르게 감지하는</a:t>
            </a:r>
            <a:endParaRPr lang="en-US" altLang="ko-KR" sz="6600" b="1" dirty="0">
              <a:ln>
                <a:solidFill>
                  <a:srgbClr val="1D9BE6">
                    <a:alpha val="0"/>
                  </a:srgbClr>
                </a:solidFill>
              </a:ln>
              <a:solidFill>
                <a:srgbClr val="595959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6600" b="1" dirty="0">
                <a:ln>
                  <a:solidFill>
                    <a:srgbClr val="1D9BE6">
                      <a:alpha val="0"/>
                    </a:srgbClr>
                  </a:solidFill>
                </a:ln>
                <a:solidFill>
                  <a:srgbClr val="E8846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실시간 안전 모니터링 서비스</a:t>
            </a:r>
          </a:p>
        </p:txBody>
      </p:sp>
      <p:sp>
        <p:nvSpPr>
          <p:cNvPr id="31" name="TextBox 10">
            <a:extLst>
              <a:ext uri="{FF2B5EF4-FFF2-40B4-BE49-F238E27FC236}">
                <a16:creationId xmlns:a16="http://schemas.microsoft.com/office/drawing/2014/main" id="{4F465E0F-D1CB-41B6-A902-71882142F4A8}"/>
              </a:ext>
            </a:extLst>
          </p:cNvPr>
          <p:cNvSpPr txBox="1"/>
          <p:nvPr/>
        </p:nvSpPr>
        <p:spPr>
          <a:xfrm>
            <a:off x="19011900" y="1600200"/>
            <a:ext cx="3848100" cy="381000"/>
          </a:xfrm>
          <a:prstGeom prst="rect">
            <a:avLst/>
          </a:prstGeom>
        </p:spPr>
        <p:txBody>
          <a:bodyPr lIns="0" tIns="12700" rIns="0" bIns="0" rtlCol="0" anchor="t"/>
          <a:lstStyle/>
          <a:p>
            <a:pPr lvl="0" algn="r">
              <a:lnSpc>
                <a:spcPct val="107899"/>
              </a:lnSpc>
            </a:pPr>
            <a:r>
              <a:rPr lang="en-US" sz="1999" b="0" i="0" u="none" strike="noStrike" dirty="0">
                <a:solidFill>
                  <a:srgbClr val="595959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retendard Regular"/>
              </a:rPr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E27F1B-2F2C-423C-9826-60829F631BF8}"/>
              </a:ext>
            </a:extLst>
          </p:cNvPr>
          <p:cNvSpPr txBox="1"/>
          <p:nvPr/>
        </p:nvSpPr>
        <p:spPr>
          <a:xfrm>
            <a:off x="13335000" y="6146800"/>
            <a:ext cx="2286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b="1" dirty="0">
                <a:solidFill>
                  <a:srgbClr val="E8846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NILM</a:t>
            </a:r>
            <a:endParaRPr lang="ko-KR" altLang="en-US" sz="6600" b="1" dirty="0">
              <a:solidFill>
                <a:srgbClr val="E8846B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E7E6D9-CBD9-471F-9797-DAAEEE748470}"/>
              </a:ext>
            </a:extLst>
          </p:cNvPr>
          <p:cNvSpPr txBox="1"/>
          <p:nvPr/>
        </p:nvSpPr>
        <p:spPr>
          <a:xfrm>
            <a:off x="7334250" y="8153400"/>
            <a:ext cx="100393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600" b="1" dirty="0">
                <a:solidFill>
                  <a:srgbClr val="E8846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실시간 안전 모니터링 서비스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" y="990600"/>
            <a:ext cx="22212300" cy="11925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12280900"/>
            <a:ext cx="23037800" cy="77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260600"/>
            <a:ext cx="21628100" cy="381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562100" y="1600200"/>
            <a:ext cx="3822700" cy="381000"/>
          </a:xfrm>
          <a:prstGeom prst="rect">
            <a:avLst/>
          </a:prstGeom>
        </p:spPr>
        <p:txBody>
          <a:bodyPr lIns="0" tIns="127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altLang="ko-KR" sz="1999" b="1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NILM-NALM</a:t>
            </a:r>
          </a:p>
        </p:txBody>
      </p:sp>
      <p:sp>
        <p:nvSpPr>
          <p:cNvPr id="31" name="TextBox 10">
            <a:extLst>
              <a:ext uri="{FF2B5EF4-FFF2-40B4-BE49-F238E27FC236}">
                <a16:creationId xmlns:a16="http://schemas.microsoft.com/office/drawing/2014/main" id="{4F465E0F-D1CB-41B6-A902-71882142F4A8}"/>
              </a:ext>
            </a:extLst>
          </p:cNvPr>
          <p:cNvSpPr txBox="1"/>
          <p:nvPr/>
        </p:nvSpPr>
        <p:spPr>
          <a:xfrm>
            <a:off x="19011900" y="1600200"/>
            <a:ext cx="3848100" cy="381000"/>
          </a:xfrm>
          <a:prstGeom prst="rect">
            <a:avLst/>
          </a:prstGeom>
        </p:spPr>
        <p:txBody>
          <a:bodyPr lIns="0" tIns="12700" rIns="0" bIns="0" rtlCol="0" anchor="t"/>
          <a:lstStyle/>
          <a:p>
            <a:pPr lvl="0" algn="r">
              <a:lnSpc>
                <a:spcPct val="107899"/>
              </a:lnSpc>
            </a:pPr>
            <a:r>
              <a:rPr lang="en-US" sz="1999" b="0" i="0" u="none" strike="noStrike" dirty="0">
                <a:solidFill>
                  <a:srgbClr val="595959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retendard Regular"/>
              </a:rPr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AE916F-15A7-4EFC-B78F-66FD1E1A27E3}"/>
              </a:ext>
            </a:extLst>
          </p:cNvPr>
          <p:cNvSpPr txBox="1"/>
          <p:nvPr/>
        </p:nvSpPr>
        <p:spPr>
          <a:xfrm>
            <a:off x="4419600" y="3579851"/>
            <a:ext cx="2286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b="1" dirty="0">
                <a:solidFill>
                  <a:srgbClr val="E8846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NILM</a:t>
            </a:r>
            <a:endParaRPr lang="ko-KR" altLang="en-US" sz="6600" b="1" dirty="0">
              <a:solidFill>
                <a:srgbClr val="E8846B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D77B58-580B-4CB9-8DD9-53CC149231B9}"/>
              </a:ext>
            </a:extLst>
          </p:cNvPr>
          <p:cNvSpPr txBox="1"/>
          <p:nvPr/>
        </p:nvSpPr>
        <p:spPr>
          <a:xfrm>
            <a:off x="4419600" y="7376377"/>
            <a:ext cx="100393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600" b="1" dirty="0">
                <a:solidFill>
                  <a:srgbClr val="E8846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실시간 안전 모니터링 서비스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87BD6B6-A1B6-4B89-A5C4-493DFD6AF857}"/>
              </a:ext>
            </a:extLst>
          </p:cNvPr>
          <p:cNvSpPr txBox="1"/>
          <p:nvPr/>
        </p:nvSpPr>
        <p:spPr>
          <a:xfrm>
            <a:off x="4572000" y="5300924"/>
            <a:ext cx="1219385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4000" dirty="0">
                <a:ln>
                  <a:solidFill>
                    <a:srgbClr val="1D9BE6">
                      <a:alpha val="0"/>
                    </a:srgbClr>
                  </a:solidFill>
                </a:ln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전체 전력 사용량에 가전 별 사용 상태 추론</a:t>
            </a:r>
            <a:endParaRPr lang="en-US" altLang="ko-KR" sz="4000" dirty="0">
              <a:ln>
                <a:solidFill>
                  <a:srgbClr val="1D9BE6">
                    <a:alpha val="0"/>
                  </a:srgbClr>
                </a:solidFill>
              </a:ln>
              <a:solidFill>
                <a:srgbClr val="595959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4000" dirty="0">
                <a:ln>
                  <a:solidFill>
                    <a:srgbClr val="1D9BE6">
                      <a:alpha val="0"/>
                    </a:srgbClr>
                  </a:solidFill>
                </a:ln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평소와 다른 전력 변화 및 이벤트 감지</a:t>
            </a:r>
            <a:endParaRPr lang="ko-KR" altLang="en-US" sz="4000" dirty="0">
              <a:ln>
                <a:solidFill>
                  <a:srgbClr val="1D9BE6">
                    <a:alpha val="0"/>
                  </a:srgbClr>
                </a:solidFill>
              </a:ln>
              <a:solidFill>
                <a:srgbClr val="E8846B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A4F8AA5-9BC5-4158-AB4E-C54F39644550}"/>
              </a:ext>
            </a:extLst>
          </p:cNvPr>
          <p:cNvSpPr txBox="1"/>
          <p:nvPr/>
        </p:nvSpPr>
        <p:spPr>
          <a:xfrm>
            <a:off x="4572000" y="9102414"/>
            <a:ext cx="1219385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4000" dirty="0">
                <a:ln>
                  <a:solidFill>
                    <a:srgbClr val="1D9BE6">
                      <a:alpha val="0"/>
                    </a:srgbClr>
                  </a:solidFill>
                </a:ln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위험 발생 시 담당자에게 실시간 알림 제공</a:t>
            </a:r>
            <a:endParaRPr lang="en-US" altLang="ko-KR" sz="4000" dirty="0">
              <a:ln>
                <a:solidFill>
                  <a:srgbClr val="1D9BE6">
                    <a:alpha val="0"/>
                  </a:srgbClr>
                </a:solidFill>
              </a:ln>
              <a:solidFill>
                <a:srgbClr val="595959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4000" dirty="0">
                <a:ln>
                  <a:solidFill>
                    <a:srgbClr val="1D9BE6">
                      <a:alpha val="0"/>
                    </a:srgbClr>
                  </a:solidFill>
                </a:ln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위험 가구 목록</a:t>
            </a:r>
            <a:r>
              <a:rPr lang="en-US" altLang="ko-KR" sz="4000" dirty="0">
                <a:ln>
                  <a:solidFill>
                    <a:srgbClr val="1D9BE6">
                      <a:alpha val="0"/>
                    </a:srgbClr>
                  </a:solidFill>
                </a:ln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4000" dirty="0">
                <a:ln>
                  <a:solidFill>
                    <a:srgbClr val="1D9BE6">
                      <a:alpha val="0"/>
                    </a:srgbClr>
                  </a:solidFill>
                </a:ln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탐지 이력</a:t>
            </a:r>
            <a:r>
              <a:rPr lang="en-US" altLang="ko-KR" sz="4000" dirty="0">
                <a:ln>
                  <a:solidFill>
                    <a:srgbClr val="1D9BE6">
                      <a:alpha val="0"/>
                    </a:srgbClr>
                  </a:solidFill>
                </a:ln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4000" dirty="0">
                <a:ln>
                  <a:solidFill>
                    <a:srgbClr val="1D9BE6">
                      <a:alpha val="0"/>
                    </a:srgbClr>
                  </a:solidFill>
                </a:ln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등을 웹 대시보드에서 관리</a:t>
            </a:r>
            <a:endParaRPr lang="ko-KR" altLang="en-US" sz="4000" dirty="0">
              <a:ln>
                <a:solidFill>
                  <a:srgbClr val="1D9BE6">
                    <a:alpha val="0"/>
                  </a:srgbClr>
                </a:solidFill>
              </a:ln>
              <a:solidFill>
                <a:srgbClr val="E8846B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59614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78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" y="990600"/>
            <a:ext cx="22212300" cy="11925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" y="12280900"/>
            <a:ext cx="23037800" cy="77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2260600"/>
            <a:ext cx="21628100" cy="381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8EAB12E9-A5D6-4685-91AD-BC5150A2AFE4}"/>
              </a:ext>
            </a:extLst>
          </p:cNvPr>
          <p:cNvSpPr txBox="1"/>
          <p:nvPr/>
        </p:nvSpPr>
        <p:spPr>
          <a:xfrm>
            <a:off x="1562100" y="1600200"/>
            <a:ext cx="3822700" cy="381000"/>
          </a:xfrm>
          <a:prstGeom prst="rect">
            <a:avLst/>
          </a:prstGeom>
        </p:spPr>
        <p:txBody>
          <a:bodyPr lIns="0" tIns="127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altLang="ko-KR" sz="1999" b="1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NILM-NALM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6E3E8B9-9433-4958-A59E-03CE0EE2236D}"/>
              </a:ext>
            </a:extLst>
          </p:cNvPr>
          <p:cNvSpPr txBox="1"/>
          <p:nvPr/>
        </p:nvSpPr>
        <p:spPr>
          <a:xfrm>
            <a:off x="3084322" y="3088113"/>
            <a:ext cx="4600956" cy="1331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E884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MSA</a:t>
            </a:r>
            <a:r>
              <a:rPr lang="ko-KR" altLang="en-US" sz="80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란</a:t>
            </a:r>
            <a:r>
              <a:rPr lang="en-US" altLang="ko-KR" sz="80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?</a:t>
            </a:r>
            <a:endParaRPr lang="en-US" sz="8000" dirty="0">
              <a:solidFill>
                <a:srgbClr val="595959"/>
              </a:solidFill>
            </a:endParaRPr>
          </a:p>
        </p:txBody>
      </p:sp>
      <p:pic>
        <p:nvPicPr>
          <p:cNvPr id="6146" name="Picture 2" descr="MSA 이해하기 1. MSA 개념, 장단점 - H-A">
            <a:extLst>
              <a:ext uri="{FF2B5EF4-FFF2-40B4-BE49-F238E27FC236}">
                <a16:creationId xmlns:a16="http://schemas.microsoft.com/office/drawing/2014/main" id="{1D57A919-3FC5-4659-9913-1D7C81AC3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4267200"/>
            <a:ext cx="10145524" cy="7410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78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" y="990600"/>
            <a:ext cx="22212300" cy="11925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" y="12280900"/>
            <a:ext cx="23037800" cy="77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2260600"/>
            <a:ext cx="21628100" cy="381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8EAB12E9-A5D6-4685-91AD-BC5150A2AFE4}"/>
              </a:ext>
            </a:extLst>
          </p:cNvPr>
          <p:cNvSpPr txBox="1"/>
          <p:nvPr/>
        </p:nvSpPr>
        <p:spPr>
          <a:xfrm>
            <a:off x="1562100" y="1600200"/>
            <a:ext cx="3822700" cy="381000"/>
          </a:xfrm>
          <a:prstGeom prst="rect">
            <a:avLst/>
          </a:prstGeom>
        </p:spPr>
        <p:txBody>
          <a:bodyPr lIns="0" tIns="127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altLang="ko-KR" sz="1999" b="1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NILM-NALM</a:t>
            </a:r>
          </a:p>
        </p:txBody>
      </p:sp>
      <p:sp>
        <p:nvSpPr>
          <p:cNvPr id="56" name="Text 4">
            <a:extLst>
              <a:ext uri="{FF2B5EF4-FFF2-40B4-BE49-F238E27FC236}">
                <a16:creationId xmlns:a16="http://schemas.microsoft.com/office/drawing/2014/main" id="{637EE796-8983-4348-A596-5F2C882D7F13}"/>
              </a:ext>
            </a:extLst>
          </p:cNvPr>
          <p:cNvSpPr txBox="1"/>
          <p:nvPr/>
        </p:nvSpPr>
        <p:spPr>
          <a:xfrm>
            <a:off x="6829044" y="3103073"/>
            <a:ext cx="10725912" cy="1331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E884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MSA</a:t>
            </a:r>
            <a:r>
              <a:rPr lang="ko-KR" altLang="en-US" sz="800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진행하는 이유</a:t>
            </a:r>
            <a:endParaRPr lang="en-US" sz="8000" dirty="0"/>
          </a:p>
        </p:txBody>
      </p:sp>
      <p:sp>
        <p:nvSpPr>
          <p:cNvPr id="57" name="Shape 5">
            <a:extLst>
              <a:ext uri="{FF2B5EF4-FFF2-40B4-BE49-F238E27FC236}">
                <a16:creationId xmlns:a16="http://schemas.microsoft.com/office/drawing/2014/main" id="{55E593E8-837B-4B58-9408-43EAD160C4B6}"/>
              </a:ext>
            </a:extLst>
          </p:cNvPr>
          <p:cNvSpPr/>
          <p:nvPr/>
        </p:nvSpPr>
        <p:spPr>
          <a:xfrm>
            <a:off x="3981615" y="5411807"/>
            <a:ext cx="2372400" cy="2368147"/>
          </a:xfrm>
          <a:prstGeom prst="ellipse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pic>
        <p:nvPicPr>
          <p:cNvPr id="58" name="Image 0" descr="preencoded.png">
            <a:extLst>
              <a:ext uri="{FF2B5EF4-FFF2-40B4-BE49-F238E27FC236}">
                <a16:creationId xmlns:a16="http://schemas.microsoft.com/office/drawing/2014/main" id="{1C965583-7480-47EC-B4C7-5B6ABBA5AA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6127" y="5938696"/>
            <a:ext cx="1483471" cy="1482032"/>
          </a:xfrm>
          <a:prstGeom prst="rect">
            <a:avLst/>
          </a:prstGeom>
        </p:spPr>
      </p:pic>
      <p:sp>
        <p:nvSpPr>
          <p:cNvPr id="59" name="Text 6">
            <a:extLst>
              <a:ext uri="{FF2B5EF4-FFF2-40B4-BE49-F238E27FC236}">
                <a16:creationId xmlns:a16="http://schemas.microsoft.com/office/drawing/2014/main" id="{DC230F16-B700-4B4F-8820-07013B08B7BE}"/>
              </a:ext>
            </a:extLst>
          </p:cNvPr>
          <p:cNvSpPr txBox="1"/>
          <p:nvPr/>
        </p:nvSpPr>
        <p:spPr>
          <a:xfrm>
            <a:off x="2601123" y="8090928"/>
            <a:ext cx="5129175" cy="774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50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</a:rPr>
              <a:t>독립 개발 </a:t>
            </a:r>
            <a:r>
              <a:rPr lang="en-US" altLang="ko-KR" sz="50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</a:rPr>
              <a:t>· </a:t>
            </a:r>
            <a:r>
              <a:rPr lang="ko-KR" altLang="en-US" sz="50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</a:rPr>
              <a:t>배포</a:t>
            </a:r>
            <a:endParaRPr lang="en-US" sz="5000" dirty="0"/>
          </a:p>
        </p:txBody>
      </p:sp>
      <p:sp>
        <p:nvSpPr>
          <p:cNvPr id="60" name="Text 7">
            <a:extLst>
              <a:ext uri="{FF2B5EF4-FFF2-40B4-BE49-F238E27FC236}">
                <a16:creationId xmlns:a16="http://schemas.microsoft.com/office/drawing/2014/main" id="{E4AEEB3C-41CC-4E89-AD4D-2C1D6DF81DE2}"/>
              </a:ext>
            </a:extLst>
          </p:cNvPr>
          <p:cNvSpPr txBox="1"/>
          <p:nvPr/>
        </p:nvSpPr>
        <p:spPr>
          <a:xfrm>
            <a:off x="2593274" y="8988096"/>
            <a:ext cx="5129175" cy="1745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300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Spring · Python · React 혼합 스택</a:t>
            </a:r>
            <a:endParaRPr lang="en-US" sz="2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300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간</a:t>
            </a:r>
            <a:r>
              <a:rPr lang="ko-KR" altLang="en-US" sz="2300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300" dirty="0" err="1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대기</a:t>
            </a:r>
            <a:r>
              <a:rPr lang="en-US" sz="2300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300" dirty="0" err="1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없는</a:t>
            </a:r>
            <a:r>
              <a:rPr lang="en-US" sz="2300" dirty="0"/>
              <a:t> </a:t>
            </a:r>
            <a:r>
              <a:rPr lang="en-US" sz="2300" dirty="0" err="1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병렬</a:t>
            </a:r>
            <a:r>
              <a:rPr lang="en-US" sz="2300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300" dirty="0" err="1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</a:t>
            </a:r>
            <a:endParaRPr lang="en-US" sz="2300" dirty="0">
              <a:solidFill>
                <a:srgbClr val="595959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ko-KR" altLang="en-US" sz="2300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단위 빌드 </a:t>
            </a:r>
            <a:r>
              <a:rPr lang="en-US" altLang="ko-KR" sz="2300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r>
              <a:rPr lang="ko-KR" altLang="en-US" sz="2300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</a:t>
            </a:r>
            <a:endParaRPr lang="en-US" sz="2300" dirty="0">
              <a:solidFill>
                <a:srgbClr val="595959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sp>
        <p:nvSpPr>
          <p:cNvPr id="61" name="Shape 8">
            <a:extLst>
              <a:ext uri="{FF2B5EF4-FFF2-40B4-BE49-F238E27FC236}">
                <a16:creationId xmlns:a16="http://schemas.microsoft.com/office/drawing/2014/main" id="{FBDDF3CE-1D54-4EF7-99E9-7F5167317A28}"/>
              </a:ext>
            </a:extLst>
          </p:cNvPr>
          <p:cNvSpPr/>
          <p:nvPr/>
        </p:nvSpPr>
        <p:spPr>
          <a:xfrm>
            <a:off x="9247784" y="5412529"/>
            <a:ext cx="2372400" cy="2368800"/>
          </a:xfrm>
          <a:prstGeom prst="ellipse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pic>
        <p:nvPicPr>
          <p:cNvPr id="62" name="Image 1" descr="preencoded.png">
            <a:extLst>
              <a:ext uri="{FF2B5EF4-FFF2-40B4-BE49-F238E27FC236}">
                <a16:creationId xmlns:a16="http://schemas.microsoft.com/office/drawing/2014/main" id="{97DA51F3-2D30-48E7-ACCB-BC825B89B5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0584" y="5938129"/>
            <a:ext cx="1483200" cy="1481760"/>
          </a:xfrm>
          <a:prstGeom prst="rect">
            <a:avLst/>
          </a:prstGeom>
        </p:spPr>
      </p:pic>
      <p:sp>
        <p:nvSpPr>
          <p:cNvPr id="63" name="Text 9">
            <a:extLst>
              <a:ext uri="{FF2B5EF4-FFF2-40B4-BE49-F238E27FC236}">
                <a16:creationId xmlns:a16="http://schemas.microsoft.com/office/drawing/2014/main" id="{0AEE087A-48FE-43D9-B551-628D9D68B9C0}"/>
              </a:ext>
            </a:extLst>
          </p:cNvPr>
          <p:cNvSpPr txBox="1"/>
          <p:nvPr/>
        </p:nvSpPr>
        <p:spPr>
          <a:xfrm>
            <a:off x="7920369" y="8090929"/>
            <a:ext cx="5130000" cy="77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50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선택적 확장</a:t>
            </a:r>
            <a:endParaRPr lang="en-US" sz="5000" dirty="0"/>
          </a:p>
        </p:txBody>
      </p:sp>
      <p:sp>
        <p:nvSpPr>
          <p:cNvPr id="64" name="Text 10">
            <a:extLst>
              <a:ext uri="{FF2B5EF4-FFF2-40B4-BE49-F238E27FC236}">
                <a16:creationId xmlns:a16="http://schemas.microsoft.com/office/drawing/2014/main" id="{ED28B0CE-10B1-4F5E-9D3C-FEC6868CD17C}"/>
              </a:ext>
            </a:extLst>
          </p:cNvPr>
          <p:cNvSpPr txBox="1"/>
          <p:nvPr/>
        </p:nvSpPr>
        <p:spPr>
          <a:xfrm>
            <a:off x="7999861" y="8968011"/>
            <a:ext cx="4971016" cy="1544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300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스트림 · 조회 API · 모델 추론</a:t>
            </a:r>
            <a:endParaRPr lang="en-US" sz="2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300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서로 다른 부하 곡선</a:t>
            </a:r>
            <a:endParaRPr lang="en-US" sz="2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300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병목 서비스만 선택 확장</a:t>
            </a:r>
            <a:endParaRPr lang="en-US" sz="2300" dirty="0"/>
          </a:p>
        </p:txBody>
      </p:sp>
      <p:sp>
        <p:nvSpPr>
          <p:cNvPr id="65" name="Shape 11">
            <a:extLst>
              <a:ext uri="{FF2B5EF4-FFF2-40B4-BE49-F238E27FC236}">
                <a16:creationId xmlns:a16="http://schemas.microsoft.com/office/drawing/2014/main" id="{AC0A9DA3-C5FD-4793-9A90-3CC9E178713F}"/>
              </a:ext>
            </a:extLst>
          </p:cNvPr>
          <p:cNvSpPr>
            <a:spLocks noChangeAspect="1"/>
          </p:cNvSpPr>
          <p:nvPr/>
        </p:nvSpPr>
        <p:spPr>
          <a:xfrm>
            <a:off x="18792874" y="5412529"/>
            <a:ext cx="2371104" cy="2368800"/>
          </a:xfrm>
          <a:prstGeom prst="ellipse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pic>
        <p:nvPicPr>
          <p:cNvPr id="66" name="Image 2" descr="preencoded.png">
            <a:extLst>
              <a:ext uri="{FF2B5EF4-FFF2-40B4-BE49-F238E27FC236}">
                <a16:creationId xmlns:a16="http://schemas.microsoft.com/office/drawing/2014/main" id="{88877F7D-5E3F-4FEF-91DF-50EC50DE6D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251270" y="5938129"/>
            <a:ext cx="1484641" cy="1483200"/>
          </a:xfrm>
          <a:prstGeom prst="rect">
            <a:avLst/>
          </a:prstGeom>
        </p:spPr>
      </p:pic>
      <p:sp>
        <p:nvSpPr>
          <p:cNvPr id="67" name="Text 12">
            <a:extLst>
              <a:ext uri="{FF2B5EF4-FFF2-40B4-BE49-F238E27FC236}">
                <a16:creationId xmlns:a16="http://schemas.microsoft.com/office/drawing/2014/main" id="{FEE55A6B-BB20-4C86-B29D-103A4E8492CA}"/>
              </a:ext>
            </a:extLst>
          </p:cNvPr>
          <p:cNvSpPr txBox="1">
            <a:spLocks/>
          </p:cNvSpPr>
          <p:nvPr/>
        </p:nvSpPr>
        <p:spPr>
          <a:xfrm>
            <a:off x="16956302" y="8073629"/>
            <a:ext cx="6198029" cy="77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 err="1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</a:t>
            </a:r>
            <a:r>
              <a:rPr lang="en-US" sz="50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5000" b="1" dirty="0" err="1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</a:t>
            </a:r>
            <a:r>
              <a:rPr lang="en-US" sz="50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5000" b="1" dirty="0" err="1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분리</a:t>
            </a:r>
            <a:endParaRPr lang="en-US" sz="5000" dirty="0"/>
          </a:p>
        </p:txBody>
      </p:sp>
      <p:sp>
        <p:nvSpPr>
          <p:cNvPr id="68" name="Text 13">
            <a:extLst>
              <a:ext uri="{FF2B5EF4-FFF2-40B4-BE49-F238E27FC236}">
                <a16:creationId xmlns:a16="http://schemas.microsoft.com/office/drawing/2014/main" id="{B9A0D241-5E29-4C2D-819C-DCFC8D185B52}"/>
              </a:ext>
            </a:extLst>
          </p:cNvPr>
          <p:cNvSpPr txBox="1">
            <a:spLocks noChangeAspect="1"/>
          </p:cNvSpPr>
          <p:nvPr/>
        </p:nvSpPr>
        <p:spPr>
          <a:xfrm>
            <a:off x="18059400" y="8987329"/>
            <a:ext cx="3727224" cy="1337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300" dirty="0" err="1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서비스별</a:t>
            </a:r>
            <a:r>
              <a:rPr lang="en-US" sz="2300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300" dirty="0" err="1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</a:t>
            </a:r>
            <a:r>
              <a:rPr lang="en-US" sz="2300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300" dirty="0" err="1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단독</a:t>
            </a:r>
            <a:r>
              <a:rPr lang="en-US" sz="2300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300" dirty="0" err="1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소유</a:t>
            </a:r>
            <a:endParaRPr lang="en-US" sz="2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300" dirty="0" err="1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스키마</a:t>
            </a:r>
            <a:r>
              <a:rPr lang="en-US" sz="2300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300" dirty="0" err="1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변경의</a:t>
            </a:r>
            <a:r>
              <a:rPr lang="en-US" sz="2300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300" dirty="0" err="1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영향을</a:t>
            </a:r>
            <a:endParaRPr lang="en-US" sz="2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300" dirty="0" err="1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</a:t>
            </a:r>
            <a:r>
              <a:rPr lang="en-US" sz="2300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2300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별로</a:t>
            </a:r>
            <a:r>
              <a:rPr lang="en-US" sz="2300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300" dirty="0" err="1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격리</a:t>
            </a:r>
            <a:endParaRPr lang="en-US" sz="2300" dirty="0"/>
          </a:p>
        </p:txBody>
      </p:sp>
      <p:sp>
        <p:nvSpPr>
          <p:cNvPr id="70" name="Text 9">
            <a:extLst>
              <a:ext uri="{FF2B5EF4-FFF2-40B4-BE49-F238E27FC236}">
                <a16:creationId xmlns:a16="http://schemas.microsoft.com/office/drawing/2014/main" id="{155C9ABB-FE2A-4F64-B256-18B31C557014}"/>
              </a:ext>
            </a:extLst>
          </p:cNvPr>
          <p:cNvSpPr txBox="1"/>
          <p:nvPr/>
        </p:nvSpPr>
        <p:spPr>
          <a:xfrm>
            <a:off x="12770729" y="8090929"/>
            <a:ext cx="5130000" cy="77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50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장애 격리</a:t>
            </a:r>
            <a:endParaRPr lang="en-US" sz="5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A2D5F947-0679-4147-BAD7-C4893F43A4AC}"/>
              </a:ext>
            </a:extLst>
          </p:cNvPr>
          <p:cNvSpPr txBox="1"/>
          <p:nvPr/>
        </p:nvSpPr>
        <p:spPr>
          <a:xfrm>
            <a:off x="13644121" y="8987329"/>
            <a:ext cx="3383216" cy="905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ko-KR" altLang="en-US" sz="2300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서비스의 장애가 </a:t>
            </a:r>
            <a:br>
              <a:rPr lang="en-US" altLang="ko-KR" sz="2300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ko-KR" altLang="en-US" sz="2300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중단으로 확산 차단 </a:t>
            </a:r>
            <a:endParaRPr lang="en-US" sz="2300" dirty="0"/>
          </a:p>
        </p:txBody>
      </p:sp>
      <p:sp>
        <p:nvSpPr>
          <p:cNvPr id="69" name="Shape 8">
            <a:extLst>
              <a:ext uri="{FF2B5EF4-FFF2-40B4-BE49-F238E27FC236}">
                <a16:creationId xmlns:a16="http://schemas.microsoft.com/office/drawing/2014/main" id="{E12CD35D-0180-460C-99DC-B082D7FF6952}"/>
              </a:ext>
            </a:extLst>
          </p:cNvPr>
          <p:cNvSpPr>
            <a:spLocks noChangeAspect="1"/>
          </p:cNvSpPr>
          <p:nvPr/>
        </p:nvSpPr>
        <p:spPr>
          <a:xfrm>
            <a:off x="14122557" y="5412529"/>
            <a:ext cx="2368800" cy="2368800"/>
          </a:xfrm>
          <a:prstGeom prst="ellipse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pic>
        <p:nvPicPr>
          <p:cNvPr id="72" name="그림 71">
            <a:extLst>
              <a:ext uri="{FF2B5EF4-FFF2-40B4-BE49-F238E27FC236}">
                <a16:creationId xmlns:a16="http://schemas.microsoft.com/office/drawing/2014/main" id="{EAC2F2CE-3022-422A-9616-DAED6B05AA3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594129" y="5938129"/>
            <a:ext cx="1483200" cy="148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2061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Word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78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" y="990600"/>
            <a:ext cx="22212300" cy="11925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" y="12280900"/>
            <a:ext cx="23037800" cy="77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2260600"/>
            <a:ext cx="21628100" cy="381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8EAB12E9-A5D6-4685-91AD-BC5150A2AFE4}"/>
              </a:ext>
            </a:extLst>
          </p:cNvPr>
          <p:cNvSpPr txBox="1"/>
          <p:nvPr/>
        </p:nvSpPr>
        <p:spPr>
          <a:xfrm>
            <a:off x="1562100" y="1600200"/>
            <a:ext cx="3822700" cy="381000"/>
          </a:xfrm>
          <a:prstGeom prst="rect">
            <a:avLst/>
          </a:prstGeom>
        </p:spPr>
        <p:txBody>
          <a:bodyPr lIns="0" tIns="127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altLang="ko-KR" sz="1999" b="1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NILM-NALM</a:t>
            </a: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054BECB9-2AD4-40E6-BA4C-ED931171C592}"/>
              </a:ext>
            </a:extLst>
          </p:cNvPr>
          <p:cNvSpPr/>
          <p:nvPr/>
        </p:nvSpPr>
        <p:spPr>
          <a:xfrm>
            <a:off x="3200400" y="4061964"/>
            <a:ext cx="18897600" cy="1474500"/>
          </a:xfrm>
          <a:prstGeom prst="roundRect">
            <a:avLst>
              <a:gd name="adj" fmla="val 9412"/>
            </a:avLst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B9F1C712-8F46-4D21-92DD-ED0FDE10EF18}"/>
              </a:ext>
            </a:extLst>
          </p:cNvPr>
          <p:cNvSpPr/>
          <p:nvPr/>
        </p:nvSpPr>
        <p:spPr>
          <a:xfrm>
            <a:off x="3200400" y="5861480"/>
            <a:ext cx="18896400" cy="147600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4" name="Shape 5">
            <a:extLst>
              <a:ext uri="{FF2B5EF4-FFF2-40B4-BE49-F238E27FC236}">
                <a16:creationId xmlns:a16="http://schemas.microsoft.com/office/drawing/2014/main" id="{18EB2C9F-EE15-461F-BC82-EEB151F64487}"/>
              </a:ext>
            </a:extLst>
          </p:cNvPr>
          <p:cNvSpPr/>
          <p:nvPr/>
        </p:nvSpPr>
        <p:spPr>
          <a:xfrm>
            <a:off x="3200400" y="7640227"/>
            <a:ext cx="18897600" cy="1474500"/>
          </a:xfrm>
          <a:prstGeom prst="roundRect">
            <a:avLst>
              <a:gd name="adj" fmla="val 9412"/>
            </a:avLst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4E9AB1EA-6E45-493F-8A7B-9B2C1428CEC7}"/>
              </a:ext>
            </a:extLst>
          </p:cNvPr>
          <p:cNvSpPr/>
          <p:nvPr/>
        </p:nvSpPr>
        <p:spPr>
          <a:xfrm>
            <a:off x="3200400" y="9439743"/>
            <a:ext cx="18896400" cy="147600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6DC5AA6-E16F-4D03-A9AF-C70C659F1656}"/>
              </a:ext>
            </a:extLst>
          </p:cNvPr>
          <p:cNvSpPr txBox="1"/>
          <p:nvPr/>
        </p:nvSpPr>
        <p:spPr>
          <a:xfrm>
            <a:off x="5255941" y="2854618"/>
            <a:ext cx="14097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50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서비스를 어떻게 나눴는가</a:t>
            </a:r>
            <a:r>
              <a:rPr lang="en-US" altLang="ko-KR" sz="50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? </a:t>
            </a:r>
            <a:r>
              <a:rPr lang="en-US" altLang="ko-KR" sz="5500" b="1" dirty="0">
                <a:solidFill>
                  <a:srgbClr val="E884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–</a:t>
            </a:r>
            <a:r>
              <a:rPr lang="en-US" altLang="ko-KR" sz="55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5500" b="1" dirty="0">
                <a:solidFill>
                  <a:srgbClr val="E884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책임을 기준으로</a:t>
            </a:r>
            <a:endParaRPr lang="en-US" altLang="ko-KR" sz="5500" b="1" dirty="0">
              <a:solidFill>
                <a:srgbClr val="E8846B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3332E4-CA98-4F17-B6A1-F827C249CABF}"/>
              </a:ext>
            </a:extLst>
          </p:cNvPr>
          <p:cNvSpPr txBox="1"/>
          <p:nvPr/>
        </p:nvSpPr>
        <p:spPr>
          <a:xfrm>
            <a:off x="3865434" y="4518901"/>
            <a:ext cx="5012897" cy="603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IoT Device Service</a:t>
            </a:r>
            <a:endParaRPr lang="en-US" sz="4000" b="1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CE01317A-65DD-441F-BC24-59875C0821AE}"/>
              </a:ext>
            </a:extLst>
          </p:cNvPr>
          <p:cNvSpPr txBox="1"/>
          <p:nvPr/>
        </p:nvSpPr>
        <p:spPr>
          <a:xfrm>
            <a:off x="19393742" y="4518000"/>
            <a:ext cx="2514600" cy="68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500" b="1" dirty="0">
                <a:solidFill>
                  <a:srgbClr val="43AC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device_db</a:t>
            </a:r>
            <a:endParaRPr lang="en-US" sz="3500" dirty="0">
              <a:solidFill>
                <a:srgbClr val="43ACEA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7944554-554F-4FA9-BBD5-2A43D4C737AD}"/>
              </a:ext>
            </a:extLst>
          </p:cNvPr>
          <p:cNvSpPr txBox="1"/>
          <p:nvPr/>
        </p:nvSpPr>
        <p:spPr>
          <a:xfrm>
            <a:off x="9065941" y="4153474"/>
            <a:ext cx="10287000" cy="1334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7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장치의 생애주기 담당 </a:t>
            </a:r>
            <a:br>
              <a:rPr lang="en-US" altLang="ko-KR" sz="250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ko-KR" altLang="en-US" sz="250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기기 등록 </a:t>
            </a:r>
            <a:r>
              <a:rPr lang="en-US" altLang="ko-KR" sz="250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r>
              <a:rPr lang="ko-KR" altLang="en-US" sz="250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가구 설치 </a:t>
            </a:r>
            <a:r>
              <a:rPr lang="en-US" altLang="ko-KR" sz="250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r>
              <a:rPr lang="ko-KR" altLang="en-US" sz="250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 상태 </a:t>
            </a:r>
            <a:r>
              <a:rPr lang="en-US" altLang="ko-KR" sz="250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r>
              <a:rPr lang="ko-KR" altLang="en-US" sz="250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마지막 통신 시각</a:t>
            </a:r>
            <a:endParaRPr lang="en-US" sz="25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4A4CC052-F90F-4C05-849C-7A6880F7938B}"/>
              </a:ext>
            </a:extLst>
          </p:cNvPr>
          <p:cNvSpPr txBox="1"/>
          <p:nvPr/>
        </p:nvSpPr>
        <p:spPr>
          <a:xfrm>
            <a:off x="3865434" y="6253416"/>
            <a:ext cx="4983162" cy="68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Monitoring Service</a:t>
            </a:r>
            <a:endParaRPr lang="en-US" sz="40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4B939B50-0523-48C6-9B63-B517A4766007}"/>
              </a:ext>
            </a:extLst>
          </p:cNvPr>
          <p:cNvSpPr txBox="1"/>
          <p:nvPr/>
        </p:nvSpPr>
        <p:spPr>
          <a:xfrm>
            <a:off x="18373000" y="6253200"/>
            <a:ext cx="3535342" cy="68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43AC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monitoring_db</a:t>
            </a:r>
            <a:endParaRPr lang="en-US" sz="3000" dirty="0">
              <a:solidFill>
                <a:srgbClr val="43ACEA"/>
              </a:solidFill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7324A05E-88A0-4D2F-BE99-3139DA27F21E}"/>
              </a:ext>
            </a:extLst>
          </p:cNvPr>
          <p:cNvSpPr txBox="1"/>
          <p:nvPr/>
        </p:nvSpPr>
        <p:spPr>
          <a:xfrm>
            <a:off x="9067800" y="6023753"/>
            <a:ext cx="9470049" cy="1071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ko-KR" altLang="en-US" sz="27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사람과</a:t>
            </a:r>
            <a:r>
              <a:rPr lang="en-US" altLang="ko-KR" sz="27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27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관련된 이벤트 담당</a:t>
            </a:r>
            <a:br>
              <a:rPr lang="en-US" altLang="ko-KR" sz="250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ko-KR" altLang="en-US" sz="250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가구</a:t>
            </a:r>
            <a:r>
              <a:rPr lang="en-US" altLang="ko-KR" sz="250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ko-KR" altLang="en-US" sz="250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보호자 관계 </a:t>
            </a:r>
            <a:r>
              <a:rPr lang="en-US" altLang="ko-KR" sz="250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r>
              <a:rPr lang="ko-KR" altLang="en-US" sz="250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 이벤트 저장 </a:t>
            </a:r>
            <a:r>
              <a:rPr lang="en-US" altLang="ko-KR" sz="250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r>
              <a:rPr lang="ko-KR" altLang="en-US" sz="250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 이력 </a:t>
            </a:r>
            <a:r>
              <a:rPr lang="en-US" altLang="ko-KR" sz="250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r>
              <a:rPr lang="ko-KR" altLang="en-US" sz="250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대시보드 조회 </a:t>
            </a:r>
            <a:r>
              <a:rPr lang="en-US" altLang="ko-KR" sz="250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</a:t>
            </a:r>
            <a:endParaRPr lang="en-US" altLang="ko-KR" sz="25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BD9EA102-E3EB-4CC9-93B9-4E72022DF5C3}"/>
              </a:ext>
            </a:extLst>
          </p:cNvPr>
          <p:cNvSpPr txBox="1"/>
          <p:nvPr/>
        </p:nvSpPr>
        <p:spPr>
          <a:xfrm>
            <a:off x="3865434" y="8033883"/>
            <a:ext cx="4983162" cy="68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Analysis Service </a:t>
            </a:r>
            <a:endParaRPr lang="en-US" sz="40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0FF43FCE-BBED-484D-8F6C-BBA8181DB343}"/>
              </a:ext>
            </a:extLst>
          </p:cNvPr>
          <p:cNvSpPr txBox="1"/>
          <p:nvPr/>
        </p:nvSpPr>
        <p:spPr>
          <a:xfrm>
            <a:off x="19393743" y="8035200"/>
            <a:ext cx="2514600" cy="68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43AC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analysis_db</a:t>
            </a:r>
            <a:endParaRPr lang="en-US" sz="3000" dirty="0">
              <a:solidFill>
                <a:srgbClr val="43ACEA"/>
              </a:solidFill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7CF54838-2EC9-432C-91CA-0DD38933796A}"/>
              </a:ext>
            </a:extLst>
          </p:cNvPr>
          <p:cNvSpPr txBox="1"/>
          <p:nvPr/>
        </p:nvSpPr>
        <p:spPr>
          <a:xfrm>
            <a:off x="8878331" y="7785904"/>
            <a:ext cx="9494669" cy="1121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7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판단 담당 </a:t>
            </a:r>
            <a:br>
              <a:rPr lang="en-US" altLang="ko-KR" sz="250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ko-KR" altLang="en-US" sz="250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전력 스트림 분석 </a:t>
            </a:r>
            <a:r>
              <a:rPr lang="en-US" altLang="ko-KR" sz="250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NILM </a:t>
            </a:r>
            <a:r>
              <a:rPr lang="ko-KR" altLang="en-US" sz="250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추론 </a:t>
            </a:r>
            <a:r>
              <a:rPr lang="en-US" altLang="ko-KR" sz="250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r>
              <a:rPr lang="ko-KR" altLang="en-US" sz="250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 이벤트 발행 </a:t>
            </a:r>
            <a:r>
              <a:rPr lang="en-US" altLang="ko-KR" sz="250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en-US" altLang="ko-KR" sz="2500" dirty="0" err="1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Python·AI</a:t>
            </a:r>
            <a:r>
              <a:rPr lang="en-US" altLang="ko-KR" sz="250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25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634B3869-424C-43E2-AF8F-0E62D4821B17}"/>
              </a:ext>
            </a:extLst>
          </p:cNvPr>
          <p:cNvSpPr txBox="1"/>
          <p:nvPr/>
        </p:nvSpPr>
        <p:spPr>
          <a:xfrm>
            <a:off x="3865434" y="9804099"/>
            <a:ext cx="2553731" cy="68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Keycloak</a:t>
            </a:r>
            <a:endParaRPr lang="en-US" sz="400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BBBF9680-12ED-400D-B8BC-EC2CA3260BDD}"/>
              </a:ext>
            </a:extLst>
          </p:cNvPr>
          <p:cNvSpPr txBox="1"/>
          <p:nvPr/>
        </p:nvSpPr>
        <p:spPr>
          <a:xfrm>
            <a:off x="19078320" y="9802800"/>
            <a:ext cx="2830022" cy="68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43AC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keycloak_db</a:t>
            </a:r>
            <a:endParaRPr lang="en-US" sz="3000" dirty="0">
              <a:solidFill>
                <a:srgbClr val="43ACEA"/>
              </a:solidFill>
            </a:endParaRP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9543A3C2-3C6A-4574-8A87-29AB8ECF0CDD}"/>
              </a:ext>
            </a:extLst>
          </p:cNvPr>
          <p:cNvSpPr txBox="1"/>
          <p:nvPr/>
        </p:nvSpPr>
        <p:spPr>
          <a:xfrm>
            <a:off x="8878331" y="9560457"/>
            <a:ext cx="9494669" cy="1174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7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신원 담당 </a:t>
            </a:r>
            <a:br>
              <a:rPr lang="en-US" altLang="ko-KR" sz="250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ko-KR" altLang="en-US" sz="250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 </a:t>
            </a:r>
            <a:r>
              <a:rPr lang="en-US" altLang="ko-KR" sz="250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r>
              <a:rPr lang="ko-KR" altLang="en-US" sz="250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계정 </a:t>
            </a:r>
            <a:r>
              <a:rPr lang="en-US" altLang="ko-KR" sz="250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r>
              <a:rPr lang="ko-KR" altLang="en-US" sz="250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관리 </a:t>
            </a:r>
            <a:r>
              <a:rPr lang="en-US" altLang="ko-KR" sz="250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JWT </a:t>
            </a:r>
            <a:r>
              <a:rPr lang="ko-KR" altLang="en-US" sz="2500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발급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1135334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78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" y="990600"/>
            <a:ext cx="22212300" cy="11925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" y="12280900"/>
            <a:ext cx="23037800" cy="77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2260600"/>
            <a:ext cx="21628100" cy="381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8EAB12E9-A5D6-4685-91AD-BC5150A2AFE4}"/>
              </a:ext>
            </a:extLst>
          </p:cNvPr>
          <p:cNvSpPr txBox="1"/>
          <p:nvPr/>
        </p:nvSpPr>
        <p:spPr>
          <a:xfrm>
            <a:off x="1562100" y="1600200"/>
            <a:ext cx="3822700" cy="381000"/>
          </a:xfrm>
          <a:prstGeom prst="rect">
            <a:avLst/>
          </a:prstGeom>
        </p:spPr>
        <p:txBody>
          <a:bodyPr lIns="0" tIns="127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altLang="ko-KR" sz="1999" b="1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NILM-NALM</a:t>
            </a:r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276A3919-A409-427C-AD53-8F6B03DAF10C}"/>
              </a:ext>
            </a:extLst>
          </p:cNvPr>
          <p:cNvSpPr txBox="1"/>
          <p:nvPr/>
        </p:nvSpPr>
        <p:spPr>
          <a:xfrm>
            <a:off x="4912534" y="2950823"/>
            <a:ext cx="14546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55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구조 </a:t>
            </a:r>
            <a:r>
              <a:rPr lang="en-US" altLang="ko-KR" sz="55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</a:t>
            </a:r>
            <a:r>
              <a:rPr lang="ko-KR" altLang="en-US" sz="55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요청은 </a:t>
            </a:r>
            <a:r>
              <a:rPr lang="en-US" altLang="ko-KR" sz="6000" b="1" dirty="0">
                <a:solidFill>
                  <a:srgbClr val="E884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Gateway</a:t>
            </a:r>
            <a:r>
              <a:rPr lang="ko-KR" altLang="en-US" sz="55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지난다</a:t>
            </a:r>
            <a:endParaRPr lang="en-US" sz="5500" dirty="0"/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F48EBA37-490C-485E-9FC4-205C6DA6125E}"/>
              </a:ext>
            </a:extLst>
          </p:cNvPr>
          <p:cNvGrpSpPr/>
          <p:nvPr/>
        </p:nvGrpSpPr>
        <p:grpSpPr>
          <a:xfrm>
            <a:off x="3048000" y="6238648"/>
            <a:ext cx="3538006" cy="1935429"/>
            <a:chOff x="3838204" y="5438548"/>
            <a:chExt cx="3538006" cy="1935429"/>
          </a:xfrm>
        </p:grpSpPr>
        <p:sp>
          <p:nvSpPr>
            <p:cNvPr id="25" name="Shape 5">
              <a:extLst>
                <a:ext uri="{FF2B5EF4-FFF2-40B4-BE49-F238E27FC236}">
                  <a16:creationId xmlns:a16="http://schemas.microsoft.com/office/drawing/2014/main" id="{E8335718-FFA4-413C-B42C-B66B2796A305}"/>
                </a:ext>
              </a:extLst>
            </p:cNvPr>
            <p:cNvSpPr/>
            <p:nvPr/>
          </p:nvSpPr>
          <p:spPr>
            <a:xfrm>
              <a:off x="3838204" y="5438548"/>
              <a:ext cx="3538006" cy="1935429"/>
            </a:xfrm>
            <a:prstGeom prst="roundRect">
              <a:avLst>
                <a:gd name="adj" fmla="val 8235"/>
              </a:avLst>
            </a:prstGeom>
            <a:solidFill>
              <a:srgbClr val="F5F5F5"/>
            </a:solidFill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26" name="Text 6">
              <a:extLst>
                <a:ext uri="{FF2B5EF4-FFF2-40B4-BE49-F238E27FC236}">
                  <a16:creationId xmlns:a16="http://schemas.microsoft.com/office/drawing/2014/main" id="{D5B86528-18AF-4984-AA26-C68D741454A1}"/>
                </a:ext>
              </a:extLst>
            </p:cNvPr>
            <p:cNvSpPr txBox="1"/>
            <p:nvPr/>
          </p:nvSpPr>
          <p:spPr>
            <a:xfrm>
              <a:off x="3838204" y="5438548"/>
              <a:ext cx="3538006" cy="1935429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/>
            <a:lstStyle/>
            <a:p>
              <a:pPr marL="0" indent="0" algn="ctr">
                <a:buNone/>
              </a:pPr>
              <a:r>
                <a:rPr lang="en-US" sz="3000" b="1" dirty="0">
                  <a:solidFill>
                    <a:srgbClr val="59595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React</a:t>
              </a:r>
              <a:endParaRPr lang="en-US" sz="3000" dirty="0"/>
            </a:p>
            <a:p>
              <a:pPr marL="0" indent="0" algn="ctr">
                <a:buNone/>
              </a:pPr>
              <a:r>
                <a:rPr lang="en-US" sz="3000" b="1" dirty="0">
                  <a:solidFill>
                    <a:srgbClr val="59595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Dashboard</a:t>
              </a:r>
              <a:endParaRPr lang="en-US" sz="3000" dirty="0"/>
            </a:p>
          </p:txBody>
        </p:sp>
      </p:grpSp>
      <p:sp>
        <p:nvSpPr>
          <p:cNvPr id="27" name="Shape 7">
            <a:extLst>
              <a:ext uri="{FF2B5EF4-FFF2-40B4-BE49-F238E27FC236}">
                <a16:creationId xmlns:a16="http://schemas.microsoft.com/office/drawing/2014/main" id="{7EDA65DC-6B45-4385-B062-1049803DD9EE}"/>
              </a:ext>
            </a:extLst>
          </p:cNvPr>
          <p:cNvSpPr/>
          <p:nvPr/>
        </p:nvSpPr>
        <p:spPr>
          <a:xfrm>
            <a:off x="6586006" y="7217781"/>
            <a:ext cx="1144327" cy="14900"/>
          </a:xfrm>
          <a:prstGeom prst="line">
            <a:avLst/>
          </a:prstGeom>
          <a:noFill/>
          <a:ln w="50800">
            <a:solidFill>
              <a:srgbClr val="B5B5B5"/>
            </a:solidFill>
            <a:prstDash val="solid"/>
            <a:tailEnd type="triangle"/>
          </a:ln>
        </p:spPr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20443F87-61C3-4AF8-863F-D832E95AFD4D}"/>
              </a:ext>
            </a:extLst>
          </p:cNvPr>
          <p:cNvGrpSpPr/>
          <p:nvPr/>
        </p:nvGrpSpPr>
        <p:grpSpPr>
          <a:xfrm>
            <a:off x="7730335" y="6239700"/>
            <a:ext cx="3538801" cy="1936800"/>
            <a:chOff x="8520539" y="5548629"/>
            <a:chExt cx="3538801" cy="1936800"/>
          </a:xfrm>
        </p:grpSpPr>
        <p:sp>
          <p:nvSpPr>
            <p:cNvPr id="28" name="Shape 8">
              <a:extLst>
                <a:ext uri="{FF2B5EF4-FFF2-40B4-BE49-F238E27FC236}">
                  <a16:creationId xmlns:a16="http://schemas.microsoft.com/office/drawing/2014/main" id="{C0AED872-39C3-43F0-833B-15710EED73EF}"/>
                </a:ext>
              </a:extLst>
            </p:cNvPr>
            <p:cNvSpPr/>
            <p:nvPr/>
          </p:nvSpPr>
          <p:spPr>
            <a:xfrm>
              <a:off x="8520540" y="5548629"/>
              <a:ext cx="3538800" cy="1936800"/>
            </a:xfrm>
            <a:prstGeom prst="roundRect">
              <a:avLst>
                <a:gd name="adj" fmla="val 8235"/>
              </a:avLst>
            </a:prstGeom>
            <a:solidFill>
              <a:srgbClr val="FFFFFF"/>
            </a:solidFill>
            <a:ln w="12700">
              <a:solidFill>
                <a:srgbClr val="595959"/>
              </a:solidFill>
              <a:prstDash val="solid"/>
            </a:ln>
          </p:spPr>
        </p:sp>
        <p:sp>
          <p:nvSpPr>
            <p:cNvPr id="29" name="Text 9">
              <a:extLst>
                <a:ext uri="{FF2B5EF4-FFF2-40B4-BE49-F238E27FC236}">
                  <a16:creationId xmlns:a16="http://schemas.microsoft.com/office/drawing/2014/main" id="{F3F8C64C-4B42-4F96-A139-F86DF9C6CB42}"/>
                </a:ext>
              </a:extLst>
            </p:cNvPr>
            <p:cNvSpPr txBox="1"/>
            <p:nvPr/>
          </p:nvSpPr>
          <p:spPr>
            <a:xfrm>
              <a:off x="8520539" y="5548629"/>
              <a:ext cx="3538799" cy="1936800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/>
            <a:lstStyle/>
            <a:p>
              <a:pPr marL="0" indent="0" algn="ctr">
                <a:buNone/>
              </a:pPr>
              <a:r>
                <a:rPr lang="en-US" sz="3000" b="1" dirty="0">
                  <a:solidFill>
                    <a:srgbClr val="59595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API Gateway</a:t>
              </a:r>
              <a:endParaRPr lang="en-US" sz="3000" dirty="0"/>
            </a:p>
            <a:p>
              <a:pPr marL="0" indent="0" algn="ctr">
                <a:buNone/>
              </a:pPr>
              <a:r>
                <a:rPr lang="en-US" sz="2500" dirty="0">
                  <a:solidFill>
                    <a:srgbClr val="9A9A9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JWT 1차 검증</a:t>
              </a:r>
              <a:endParaRPr lang="en-US" sz="2500" dirty="0"/>
            </a:p>
          </p:txBody>
        </p:sp>
      </p:grpSp>
      <p:sp>
        <p:nvSpPr>
          <p:cNvPr id="30" name="Shape 10">
            <a:extLst>
              <a:ext uri="{FF2B5EF4-FFF2-40B4-BE49-F238E27FC236}">
                <a16:creationId xmlns:a16="http://schemas.microsoft.com/office/drawing/2014/main" id="{1A601A11-3C3D-42D8-940C-4F8B80E61CCB}"/>
              </a:ext>
            </a:extLst>
          </p:cNvPr>
          <p:cNvSpPr/>
          <p:nvPr/>
        </p:nvSpPr>
        <p:spPr>
          <a:xfrm>
            <a:off x="11268338" y="6773510"/>
            <a:ext cx="1124057" cy="0"/>
          </a:xfrm>
          <a:prstGeom prst="line">
            <a:avLst/>
          </a:prstGeom>
          <a:noFill/>
          <a:ln w="50800">
            <a:solidFill>
              <a:srgbClr val="B5B5B5"/>
            </a:solidFill>
            <a:prstDash val="solid"/>
            <a:tailEnd type="triangle"/>
          </a:ln>
        </p:spPr>
      </p:sp>
      <p:sp>
        <p:nvSpPr>
          <p:cNvPr id="31" name="Shape 11">
            <a:extLst>
              <a:ext uri="{FF2B5EF4-FFF2-40B4-BE49-F238E27FC236}">
                <a16:creationId xmlns:a16="http://schemas.microsoft.com/office/drawing/2014/main" id="{65B9B502-0130-4BCB-8FC0-44A5B15DE6C1}"/>
              </a:ext>
            </a:extLst>
          </p:cNvPr>
          <p:cNvSpPr/>
          <p:nvPr/>
        </p:nvSpPr>
        <p:spPr>
          <a:xfrm>
            <a:off x="11268338" y="7760891"/>
            <a:ext cx="1124057" cy="561002"/>
          </a:xfrm>
          <a:prstGeom prst="line">
            <a:avLst/>
          </a:prstGeom>
          <a:noFill/>
          <a:ln w="50800">
            <a:solidFill>
              <a:srgbClr val="B5B5B5"/>
            </a:solidFill>
            <a:prstDash val="solid"/>
            <a:tailEnd type="triangle"/>
          </a:ln>
        </p:spPr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83747ACC-3287-45E8-BD18-67C6480CA2DF}"/>
              </a:ext>
            </a:extLst>
          </p:cNvPr>
          <p:cNvGrpSpPr/>
          <p:nvPr/>
        </p:nvGrpSpPr>
        <p:grpSpPr>
          <a:xfrm>
            <a:off x="12395616" y="5282352"/>
            <a:ext cx="4644980" cy="1935429"/>
            <a:chOff x="13185820" y="5437177"/>
            <a:chExt cx="4644980" cy="1935429"/>
          </a:xfrm>
        </p:grpSpPr>
        <p:sp>
          <p:nvSpPr>
            <p:cNvPr id="34" name="Shape 14">
              <a:extLst>
                <a:ext uri="{FF2B5EF4-FFF2-40B4-BE49-F238E27FC236}">
                  <a16:creationId xmlns:a16="http://schemas.microsoft.com/office/drawing/2014/main" id="{3086293A-1A07-4783-AF88-03EB5D8AA56D}"/>
                </a:ext>
              </a:extLst>
            </p:cNvPr>
            <p:cNvSpPr/>
            <p:nvPr/>
          </p:nvSpPr>
          <p:spPr>
            <a:xfrm>
              <a:off x="13185820" y="5437177"/>
              <a:ext cx="4644980" cy="1935429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2700">
              <a:solidFill>
                <a:srgbClr val="595959"/>
              </a:solidFill>
              <a:prstDash val="solid"/>
            </a:ln>
          </p:spPr>
        </p:sp>
        <p:sp>
          <p:nvSpPr>
            <p:cNvPr id="35" name="Text 15">
              <a:extLst>
                <a:ext uri="{FF2B5EF4-FFF2-40B4-BE49-F238E27FC236}">
                  <a16:creationId xmlns:a16="http://schemas.microsoft.com/office/drawing/2014/main" id="{78B28483-D4FD-4AF3-96F0-AA7BB9A61470}"/>
                </a:ext>
              </a:extLst>
            </p:cNvPr>
            <p:cNvSpPr txBox="1"/>
            <p:nvPr/>
          </p:nvSpPr>
          <p:spPr>
            <a:xfrm>
              <a:off x="13185820" y="5437177"/>
              <a:ext cx="4644980" cy="1935429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/>
            <a:lstStyle/>
            <a:p>
              <a:pPr marL="0" indent="0" algn="ctr">
                <a:buNone/>
              </a:pPr>
              <a:r>
                <a:rPr lang="en-US" sz="3000" b="1" dirty="0">
                  <a:solidFill>
                    <a:srgbClr val="59595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IoT Device Service</a:t>
              </a:r>
              <a:endParaRPr lang="en-US" sz="3000" dirty="0"/>
            </a:p>
            <a:p>
              <a:pPr marL="0" indent="0" algn="ctr">
                <a:buNone/>
              </a:pPr>
              <a:r>
                <a:rPr lang="ko-KR" altLang="en-US" sz="2500" dirty="0">
                  <a:solidFill>
                    <a:srgbClr val="9A9A9A"/>
                  </a:solidFill>
                  <a:latin typeface="Noto Sans KR" pitchFamily="34" charset="0"/>
                  <a:ea typeface="Noto Sans KR" pitchFamily="34" charset="-122"/>
                </a:rPr>
                <a:t>기기관리</a:t>
              </a:r>
              <a:endParaRPr lang="en-US" sz="2500" dirty="0"/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4E712304-463E-4E7F-A54B-CD94A52C265D}"/>
              </a:ext>
            </a:extLst>
          </p:cNvPr>
          <p:cNvGrpSpPr/>
          <p:nvPr/>
        </p:nvGrpSpPr>
        <p:grpSpPr>
          <a:xfrm>
            <a:off x="3048000" y="8973274"/>
            <a:ext cx="3538006" cy="1809026"/>
            <a:chOff x="3838204" y="8173174"/>
            <a:chExt cx="3538006" cy="1809026"/>
          </a:xfrm>
        </p:grpSpPr>
        <p:sp>
          <p:nvSpPr>
            <p:cNvPr id="36" name="Shape 16">
              <a:extLst>
                <a:ext uri="{FF2B5EF4-FFF2-40B4-BE49-F238E27FC236}">
                  <a16:creationId xmlns:a16="http://schemas.microsoft.com/office/drawing/2014/main" id="{E69219F9-197D-4D75-977B-6DA804B708A9}"/>
                </a:ext>
              </a:extLst>
            </p:cNvPr>
            <p:cNvSpPr/>
            <p:nvPr/>
          </p:nvSpPr>
          <p:spPr>
            <a:xfrm>
              <a:off x="3838204" y="8173174"/>
              <a:ext cx="3538006" cy="1809026"/>
            </a:xfrm>
            <a:prstGeom prst="roundRect">
              <a:avLst>
                <a:gd name="adj" fmla="val 8235"/>
              </a:avLst>
            </a:prstGeom>
            <a:solidFill>
              <a:srgbClr val="FBEEEA"/>
            </a:solidFill>
            <a:ln w="12700">
              <a:solidFill>
                <a:srgbClr val="E8846B"/>
              </a:solidFill>
              <a:prstDash val="solid"/>
            </a:ln>
          </p:spPr>
        </p:sp>
        <p:sp>
          <p:nvSpPr>
            <p:cNvPr id="37" name="Text 17">
              <a:extLst>
                <a:ext uri="{FF2B5EF4-FFF2-40B4-BE49-F238E27FC236}">
                  <a16:creationId xmlns:a16="http://schemas.microsoft.com/office/drawing/2014/main" id="{454F5B5C-C896-49B6-8E2E-E9AB2966D7C0}"/>
                </a:ext>
              </a:extLst>
            </p:cNvPr>
            <p:cNvSpPr txBox="1"/>
            <p:nvPr/>
          </p:nvSpPr>
          <p:spPr>
            <a:xfrm>
              <a:off x="3838204" y="8173174"/>
              <a:ext cx="3538006" cy="1809026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/>
            <a:lstStyle/>
            <a:p>
              <a:pPr marL="0" indent="0" algn="ctr">
                <a:buNone/>
              </a:pPr>
              <a:r>
                <a:rPr lang="en-US" sz="3000" b="1" dirty="0">
                  <a:solidFill>
                    <a:srgbClr val="E8846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Keycloak</a:t>
              </a:r>
              <a:endParaRPr lang="en-US" sz="3000" dirty="0"/>
            </a:p>
            <a:p>
              <a:pPr marL="0" indent="0" algn="ctr">
                <a:buNone/>
              </a:pPr>
              <a:r>
                <a:rPr lang="en-US" sz="2500" dirty="0">
                  <a:solidFill>
                    <a:srgbClr val="9A9A9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JWT 발급</a:t>
              </a:r>
              <a:endParaRPr lang="en-US" sz="2500" dirty="0"/>
            </a:p>
          </p:txBody>
        </p:sp>
      </p:grpSp>
      <p:sp>
        <p:nvSpPr>
          <p:cNvPr id="38" name="Shape 18">
            <a:extLst>
              <a:ext uri="{FF2B5EF4-FFF2-40B4-BE49-F238E27FC236}">
                <a16:creationId xmlns:a16="http://schemas.microsoft.com/office/drawing/2014/main" id="{02555252-DA98-4CA9-AD1C-2B2C8BE00730}"/>
              </a:ext>
            </a:extLst>
          </p:cNvPr>
          <p:cNvSpPr/>
          <p:nvPr/>
        </p:nvSpPr>
        <p:spPr>
          <a:xfrm flipV="1">
            <a:off x="6586006" y="8210761"/>
            <a:ext cx="2329394" cy="1658719"/>
          </a:xfrm>
          <a:prstGeom prst="line">
            <a:avLst/>
          </a:prstGeom>
          <a:noFill/>
          <a:ln w="50800">
            <a:solidFill>
              <a:srgbClr val="E8846B"/>
            </a:solidFill>
            <a:prstDash val="solid"/>
            <a:tailEnd type="triangle"/>
          </a:ln>
        </p:spPr>
      </p:sp>
      <p:sp>
        <p:nvSpPr>
          <p:cNvPr id="43" name="Shape 23">
            <a:extLst>
              <a:ext uri="{FF2B5EF4-FFF2-40B4-BE49-F238E27FC236}">
                <a16:creationId xmlns:a16="http://schemas.microsoft.com/office/drawing/2014/main" id="{9E334ED4-2DAB-4F59-BFFA-A9EE91078C4D}"/>
              </a:ext>
            </a:extLst>
          </p:cNvPr>
          <p:cNvSpPr/>
          <p:nvPr/>
        </p:nvSpPr>
        <p:spPr>
          <a:xfrm>
            <a:off x="17078744" y="6310319"/>
            <a:ext cx="1088332" cy="0"/>
          </a:xfrm>
          <a:prstGeom prst="line">
            <a:avLst/>
          </a:prstGeom>
          <a:noFill/>
          <a:ln w="50800">
            <a:solidFill>
              <a:srgbClr val="B5B5B5"/>
            </a:solidFill>
            <a:prstDash val="solid"/>
            <a:tailEnd type="triangle"/>
          </a:ln>
        </p:spPr>
      </p:sp>
      <p:sp>
        <p:nvSpPr>
          <p:cNvPr id="44" name="Shape 24">
            <a:extLst>
              <a:ext uri="{FF2B5EF4-FFF2-40B4-BE49-F238E27FC236}">
                <a16:creationId xmlns:a16="http://schemas.microsoft.com/office/drawing/2014/main" id="{36223287-1EB7-44B1-9635-54FFB90D6FDB}"/>
              </a:ext>
            </a:extLst>
          </p:cNvPr>
          <p:cNvSpPr/>
          <p:nvPr/>
        </p:nvSpPr>
        <p:spPr>
          <a:xfrm>
            <a:off x="17078744" y="9058671"/>
            <a:ext cx="1088332" cy="0"/>
          </a:xfrm>
          <a:prstGeom prst="line">
            <a:avLst/>
          </a:prstGeom>
          <a:noFill/>
          <a:ln w="50800">
            <a:solidFill>
              <a:srgbClr val="B5B5B5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5B497E7A-1595-43A4-9EC9-73E192484D0A}"/>
              </a:ext>
            </a:extLst>
          </p:cNvPr>
          <p:cNvGrpSpPr/>
          <p:nvPr/>
        </p:nvGrpSpPr>
        <p:grpSpPr>
          <a:xfrm>
            <a:off x="12395616" y="8030072"/>
            <a:ext cx="4644980" cy="1935429"/>
            <a:chOff x="13185820" y="5437177"/>
            <a:chExt cx="4644980" cy="1935429"/>
          </a:xfrm>
        </p:grpSpPr>
        <p:sp>
          <p:nvSpPr>
            <p:cNvPr id="58" name="Shape 14">
              <a:extLst>
                <a:ext uri="{FF2B5EF4-FFF2-40B4-BE49-F238E27FC236}">
                  <a16:creationId xmlns:a16="http://schemas.microsoft.com/office/drawing/2014/main" id="{4D5A8E93-81CB-42B0-A25F-6C0DDE58CEBE}"/>
                </a:ext>
              </a:extLst>
            </p:cNvPr>
            <p:cNvSpPr/>
            <p:nvPr/>
          </p:nvSpPr>
          <p:spPr>
            <a:xfrm>
              <a:off x="13185820" y="5437177"/>
              <a:ext cx="4644980" cy="1935429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2700">
              <a:solidFill>
                <a:srgbClr val="595959"/>
              </a:solidFill>
              <a:prstDash val="solid"/>
            </a:ln>
          </p:spPr>
        </p:sp>
        <p:sp>
          <p:nvSpPr>
            <p:cNvPr id="59" name="Text 15">
              <a:extLst>
                <a:ext uri="{FF2B5EF4-FFF2-40B4-BE49-F238E27FC236}">
                  <a16:creationId xmlns:a16="http://schemas.microsoft.com/office/drawing/2014/main" id="{B15289D1-435E-40AA-BD76-892586D1C9F6}"/>
                </a:ext>
              </a:extLst>
            </p:cNvPr>
            <p:cNvSpPr txBox="1"/>
            <p:nvPr/>
          </p:nvSpPr>
          <p:spPr>
            <a:xfrm>
              <a:off x="13185820" y="5437177"/>
              <a:ext cx="4644980" cy="1935429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/>
            <a:lstStyle/>
            <a:p>
              <a:pPr marL="0" indent="0" algn="ctr">
                <a:buNone/>
              </a:pPr>
              <a:r>
                <a:rPr lang="en-US" sz="3000" b="1" dirty="0">
                  <a:solidFill>
                    <a:srgbClr val="59595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Monitoring Service</a:t>
              </a:r>
              <a:endParaRPr lang="en-US" sz="3000" dirty="0"/>
            </a:p>
            <a:p>
              <a:pPr marL="0" indent="0" algn="ctr">
                <a:buNone/>
              </a:pPr>
              <a:r>
                <a:rPr lang="en-US" sz="2500" dirty="0" err="1">
                  <a:solidFill>
                    <a:srgbClr val="9A9A9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상태</a:t>
              </a:r>
              <a:r>
                <a:rPr lang="en-US" sz="2500" dirty="0">
                  <a:solidFill>
                    <a:srgbClr val="9A9A9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/이벤트</a:t>
              </a:r>
              <a:endParaRPr lang="en-US" sz="2500" dirty="0"/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7596A3D8-38D8-45A7-831F-A9B6B6BD2CF8}"/>
              </a:ext>
            </a:extLst>
          </p:cNvPr>
          <p:cNvGrpSpPr/>
          <p:nvPr/>
        </p:nvGrpSpPr>
        <p:grpSpPr>
          <a:xfrm>
            <a:off x="18195819" y="5493912"/>
            <a:ext cx="2912425" cy="1570309"/>
            <a:chOff x="3838204" y="5438548"/>
            <a:chExt cx="3538006" cy="1935429"/>
          </a:xfrm>
        </p:grpSpPr>
        <p:sp>
          <p:nvSpPr>
            <p:cNvPr id="61" name="Shape 5">
              <a:extLst>
                <a:ext uri="{FF2B5EF4-FFF2-40B4-BE49-F238E27FC236}">
                  <a16:creationId xmlns:a16="http://schemas.microsoft.com/office/drawing/2014/main" id="{EAD8CF2C-26E4-4D16-82BD-D9D765DC7E32}"/>
                </a:ext>
              </a:extLst>
            </p:cNvPr>
            <p:cNvSpPr/>
            <p:nvPr/>
          </p:nvSpPr>
          <p:spPr>
            <a:xfrm>
              <a:off x="3838204" y="5438548"/>
              <a:ext cx="3538006" cy="1935429"/>
            </a:xfrm>
            <a:prstGeom prst="roundRect">
              <a:avLst>
                <a:gd name="adj" fmla="val 8235"/>
              </a:avLst>
            </a:prstGeom>
            <a:solidFill>
              <a:srgbClr val="F5F5F5"/>
            </a:solidFill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62" name="Text 6">
              <a:extLst>
                <a:ext uri="{FF2B5EF4-FFF2-40B4-BE49-F238E27FC236}">
                  <a16:creationId xmlns:a16="http://schemas.microsoft.com/office/drawing/2014/main" id="{4C764B71-5C8E-4A0D-B8E2-A5AC7D53D5F7}"/>
                </a:ext>
              </a:extLst>
            </p:cNvPr>
            <p:cNvSpPr txBox="1"/>
            <p:nvPr/>
          </p:nvSpPr>
          <p:spPr>
            <a:xfrm>
              <a:off x="3838204" y="5438548"/>
              <a:ext cx="3538006" cy="1935429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/>
            <a:lstStyle/>
            <a:p>
              <a:pPr marL="0" indent="0" algn="ctr">
                <a:buNone/>
              </a:pPr>
              <a:r>
                <a:rPr lang="en-US" sz="2500" b="1" dirty="0" err="1">
                  <a:solidFill>
                    <a:srgbClr val="59595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device_db</a:t>
              </a:r>
              <a:endParaRPr lang="en-US" sz="2500" dirty="0"/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9975EF71-84A4-4B51-86AB-1EB44D99D723}"/>
              </a:ext>
            </a:extLst>
          </p:cNvPr>
          <p:cNvGrpSpPr/>
          <p:nvPr/>
        </p:nvGrpSpPr>
        <p:grpSpPr>
          <a:xfrm>
            <a:off x="18226995" y="8333069"/>
            <a:ext cx="2912400" cy="1569600"/>
            <a:chOff x="3838204" y="5438548"/>
            <a:chExt cx="3538006" cy="1935429"/>
          </a:xfrm>
        </p:grpSpPr>
        <p:sp>
          <p:nvSpPr>
            <p:cNvPr id="64" name="Shape 5">
              <a:extLst>
                <a:ext uri="{FF2B5EF4-FFF2-40B4-BE49-F238E27FC236}">
                  <a16:creationId xmlns:a16="http://schemas.microsoft.com/office/drawing/2014/main" id="{19774D27-7412-428E-8F8E-1ED7A99B4E84}"/>
                </a:ext>
              </a:extLst>
            </p:cNvPr>
            <p:cNvSpPr/>
            <p:nvPr/>
          </p:nvSpPr>
          <p:spPr>
            <a:xfrm>
              <a:off x="3838204" y="5438548"/>
              <a:ext cx="3538006" cy="1935429"/>
            </a:xfrm>
            <a:prstGeom prst="roundRect">
              <a:avLst>
                <a:gd name="adj" fmla="val 8235"/>
              </a:avLst>
            </a:prstGeom>
            <a:solidFill>
              <a:srgbClr val="F5F5F5"/>
            </a:solidFill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65" name="Text 6">
              <a:extLst>
                <a:ext uri="{FF2B5EF4-FFF2-40B4-BE49-F238E27FC236}">
                  <a16:creationId xmlns:a16="http://schemas.microsoft.com/office/drawing/2014/main" id="{8ED5FC27-4145-4714-905E-590A33CA525B}"/>
                </a:ext>
              </a:extLst>
            </p:cNvPr>
            <p:cNvSpPr txBox="1"/>
            <p:nvPr/>
          </p:nvSpPr>
          <p:spPr>
            <a:xfrm>
              <a:off x="3838204" y="5438548"/>
              <a:ext cx="3538006" cy="1935429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/>
            <a:lstStyle/>
            <a:p>
              <a:pPr marL="0" indent="0" algn="ctr">
                <a:buNone/>
              </a:pPr>
              <a:r>
                <a:rPr lang="en-US" sz="2500" b="1" dirty="0" err="1">
                  <a:solidFill>
                    <a:srgbClr val="59595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monitoring_db</a:t>
              </a:r>
              <a:endParaRPr lang="en-US" sz="25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75606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78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" y="990600"/>
            <a:ext cx="22212300" cy="11925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" y="12280900"/>
            <a:ext cx="23037800" cy="77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2260600"/>
            <a:ext cx="21628100" cy="381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8EAB12E9-A5D6-4685-91AD-BC5150A2AFE4}"/>
              </a:ext>
            </a:extLst>
          </p:cNvPr>
          <p:cNvSpPr txBox="1"/>
          <p:nvPr/>
        </p:nvSpPr>
        <p:spPr>
          <a:xfrm>
            <a:off x="1562100" y="1600200"/>
            <a:ext cx="3822700" cy="381000"/>
          </a:xfrm>
          <a:prstGeom prst="rect">
            <a:avLst/>
          </a:prstGeom>
        </p:spPr>
        <p:txBody>
          <a:bodyPr lIns="0" tIns="127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altLang="ko-KR" sz="1999" b="1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NILM-NALM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E71CA9FF-41F8-46F4-A546-56186309BBCC}"/>
              </a:ext>
            </a:extLst>
          </p:cNvPr>
          <p:cNvGrpSpPr/>
          <p:nvPr/>
        </p:nvGrpSpPr>
        <p:grpSpPr>
          <a:xfrm>
            <a:off x="2524802" y="4615250"/>
            <a:ext cx="4141829" cy="2024889"/>
            <a:chOff x="6172200" y="5533717"/>
            <a:chExt cx="1828800" cy="868680"/>
          </a:xfrm>
        </p:grpSpPr>
        <p:sp>
          <p:nvSpPr>
            <p:cNvPr id="25" name="Shape 5">
              <a:extLst>
                <a:ext uri="{FF2B5EF4-FFF2-40B4-BE49-F238E27FC236}">
                  <a16:creationId xmlns:a16="http://schemas.microsoft.com/office/drawing/2014/main" id="{149D696E-1360-49FD-8539-63F5C68B466D}"/>
                </a:ext>
              </a:extLst>
            </p:cNvPr>
            <p:cNvSpPr/>
            <p:nvPr/>
          </p:nvSpPr>
          <p:spPr>
            <a:xfrm>
              <a:off x="6172200" y="5533717"/>
              <a:ext cx="1828800" cy="868680"/>
            </a:xfrm>
            <a:prstGeom prst="roundRect">
              <a:avLst>
                <a:gd name="adj" fmla="val 7368"/>
              </a:avLst>
            </a:prstGeom>
            <a:solidFill>
              <a:srgbClr val="F5F5F5"/>
            </a:solidFill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26" name="Text 6">
              <a:extLst>
                <a:ext uri="{FF2B5EF4-FFF2-40B4-BE49-F238E27FC236}">
                  <a16:creationId xmlns:a16="http://schemas.microsoft.com/office/drawing/2014/main" id="{290368AA-F437-489D-B33B-4D982E973232}"/>
                </a:ext>
              </a:extLst>
            </p:cNvPr>
            <p:cNvSpPr txBox="1"/>
            <p:nvPr/>
          </p:nvSpPr>
          <p:spPr>
            <a:xfrm>
              <a:off x="6172200" y="5533717"/>
              <a:ext cx="1828800" cy="868680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/>
            <a:lstStyle/>
            <a:p>
              <a:pPr algn="ctr"/>
              <a:r>
                <a:rPr lang="en-US" sz="3500" b="1" dirty="0">
                  <a:solidFill>
                    <a:srgbClr val="59595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React</a:t>
              </a:r>
              <a:endParaRPr lang="en-US" sz="3500" dirty="0"/>
            </a:p>
            <a:p>
              <a:pPr algn="ctr"/>
              <a:r>
                <a:rPr lang="en-US" sz="2500" dirty="0">
                  <a:solidFill>
                    <a:srgbClr val="9A9A9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로그인 요청</a:t>
              </a:r>
              <a:endParaRPr lang="en-US" sz="2500" dirty="0"/>
            </a:p>
          </p:txBody>
        </p:sp>
      </p:grpSp>
      <p:sp>
        <p:nvSpPr>
          <p:cNvPr id="27" name="Shape 7">
            <a:extLst>
              <a:ext uri="{FF2B5EF4-FFF2-40B4-BE49-F238E27FC236}">
                <a16:creationId xmlns:a16="http://schemas.microsoft.com/office/drawing/2014/main" id="{CF13AD9C-2DBC-45AF-B9AD-F5007194734A}"/>
              </a:ext>
            </a:extLst>
          </p:cNvPr>
          <p:cNvSpPr/>
          <p:nvPr/>
        </p:nvSpPr>
        <p:spPr>
          <a:xfrm flipV="1">
            <a:off x="6666631" y="5710387"/>
            <a:ext cx="1193727" cy="1"/>
          </a:xfrm>
          <a:prstGeom prst="line">
            <a:avLst/>
          </a:prstGeom>
          <a:noFill/>
          <a:ln w="50800">
            <a:solidFill>
              <a:srgbClr val="E8846B"/>
            </a:solidFill>
            <a:prstDash val="solid"/>
            <a:tailEnd type="triangle"/>
          </a:ln>
        </p:spPr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BD6D8ECC-37A7-4541-B49D-B994D22EE98E}"/>
              </a:ext>
            </a:extLst>
          </p:cNvPr>
          <p:cNvGrpSpPr/>
          <p:nvPr/>
        </p:nvGrpSpPr>
        <p:grpSpPr>
          <a:xfrm>
            <a:off x="7860358" y="4606440"/>
            <a:ext cx="4143600" cy="2026800"/>
            <a:chOff x="8641080" y="5533717"/>
            <a:chExt cx="2103120" cy="868680"/>
          </a:xfrm>
        </p:grpSpPr>
        <p:sp>
          <p:nvSpPr>
            <p:cNvPr id="28" name="Shape 8">
              <a:extLst>
                <a:ext uri="{FF2B5EF4-FFF2-40B4-BE49-F238E27FC236}">
                  <a16:creationId xmlns:a16="http://schemas.microsoft.com/office/drawing/2014/main" id="{F4206233-BAAA-482C-8CE2-DCD1736AFADD}"/>
                </a:ext>
              </a:extLst>
            </p:cNvPr>
            <p:cNvSpPr/>
            <p:nvPr/>
          </p:nvSpPr>
          <p:spPr>
            <a:xfrm>
              <a:off x="8641080" y="5533717"/>
              <a:ext cx="2103120" cy="868680"/>
            </a:xfrm>
            <a:prstGeom prst="roundRect">
              <a:avLst>
                <a:gd name="adj" fmla="val 7368"/>
              </a:avLst>
            </a:prstGeom>
            <a:solidFill>
              <a:srgbClr val="FBEEEA"/>
            </a:solidFill>
            <a:ln w="12700">
              <a:solidFill>
                <a:srgbClr val="E8846B"/>
              </a:solidFill>
              <a:prstDash val="solid"/>
            </a:ln>
          </p:spPr>
        </p:sp>
        <p:sp>
          <p:nvSpPr>
            <p:cNvPr id="29" name="Text 9">
              <a:extLst>
                <a:ext uri="{FF2B5EF4-FFF2-40B4-BE49-F238E27FC236}">
                  <a16:creationId xmlns:a16="http://schemas.microsoft.com/office/drawing/2014/main" id="{EC34E4E3-BDB8-44BF-AD52-FEA3FBD4F6FA}"/>
                </a:ext>
              </a:extLst>
            </p:cNvPr>
            <p:cNvSpPr txBox="1"/>
            <p:nvPr/>
          </p:nvSpPr>
          <p:spPr>
            <a:xfrm>
              <a:off x="8641080" y="5533717"/>
              <a:ext cx="2103120" cy="868680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/>
            <a:lstStyle/>
            <a:p>
              <a:pPr algn="ctr"/>
              <a:r>
                <a:rPr lang="en-US" sz="3500" b="1" dirty="0">
                  <a:solidFill>
                    <a:srgbClr val="E8846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Keycloak</a:t>
              </a:r>
              <a:endParaRPr lang="en-US" sz="3500" dirty="0"/>
            </a:p>
            <a:p>
              <a:pPr algn="ctr"/>
              <a:r>
                <a:rPr lang="en-US" sz="2500" dirty="0">
                  <a:solidFill>
                    <a:srgbClr val="9A9A9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OIDC · JWT 발급</a:t>
              </a:r>
              <a:endParaRPr lang="en-US" sz="2500" dirty="0"/>
            </a:p>
          </p:txBody>
        </p:sp>
      </p:grpSp>
      <p:sp>
        <p:nvSpPr>
          <p:cNvPr id="30" name="Shape 10">
            <a:extLst>
              <a:ext uri="{FF2B5EF4-FFF2-40B4-BE49-F238E27FC236}">
                <a16:creationId xmlns:a16="http://schemas.microsoft.com/office/drawing/2014/main" id="{052D00A4-BD92-49D8-A686-DE504A40C669}"/>
              </a:ext>
            </a:extLst>
          </p:cNvPr>
          <p:cNvSpPr/>
          <p:nvPr/>
        </p:nvSpPr>
        <p:spPr>
          <a:xfrm>
            <a:off x="12003958" y="5710387"/>
            <a:ext cx="897024" cy="0"/>
          </a:xfrm>
          <a:prstGeom prst="line">
            <a:avLst/>
          </a:prstGeom>
          <a:noFill/>
          <a:ln w="50800">
            <a:solidFill>
              <a:srgbClr val="E8846B"/>
            </a:solidFill>
            <a:prstDash val="solid"/>
            <a:tailEnd type="triangle"/>
          </a:ln>
        </p:spPr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64AD22B-866B-44BF-A02C-10DAB9931FA1}"/>
              </a:ext>
            </a:extLst>
          </p:cNvPr>
          <p:cNvGrpSpPr/>
          <p:nvPr/>
        </p:nvGrpSpPr>
        <p:grpSpPr>
          <a:xfrm>
            <a:off x="12900982" y="4615200"/>
            <a:ext cx="4143600" cy="2026800"/>
            <a:chOff x="11384280" y="5533717"/>
            <a:chExt cx="2377440" cy="868680"/>
          </a:xfrm>
        </p:grpSpPr>
        <p:sp>
          <p:nvSpPr>
            <p:cNvPr id="31" name="Shape 11">
              <a:extLst>
                <a:ext uri="{FF2B5EF4-FFF2-40B4-BE49-F238E27FC236}">
                  <a16:creationId xmlns:a16="http://schemas.microsoft.com/office/drawing/2014/main" id="{D4EDD527-46F8-4CF3-867A-75B0711FF9DF}"/>
                </a:ext>
              </a:extLst>
            </p:cNvPr>
            <p:cNvSpPr/>
            <p:nvPr/>
          </p:nvSpPr>
          <p:spPr>
            <a:xfrm>
              <a:off x="11384280" y="5533717"/>
              <a:ext cx="2377440" cy="868680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12700">
              <a:solidFill>
                <a:srgbClr val="595959"/>
              </a:solidFill>
              <a:prstDash val="solid"/>
            </a:ln>
          </p:spPr>
        </p:sp>
        <p:sp>
          <p:nvSpPr>
            <p:cNvPr id="32" name="Text 12">
              <a:extLst>
                <a:ext uri="{FF2B5EF4-FFF2-40B4-BE49-F238E27FC236}">
                  <a16:creationId xmlns:a16="http://schemas.microsoft.com/office/drawing/2014/main" id="{B40B18B8-F4FC-4E62-AD6A-6B33496C97C3}"/>
                </a:ext>
              </a:extLst>
            </p:cNvPr>
            <p:cNvSpPr txBox="1"/>
            <p:nvPr/>
          </p:nvSpPr>
          <p:spPr>
            <a:xfrm>
              <a:off x="11384280" y="5533717"/>
              <a:ext cx="2377440" cy="868680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/>
            <a:lstStyle/>
            <a:p>
              <a:pPr algn="ctr"/>
              <a:r>
                <a:rPr lang="en-US" sz="3500" b="1" dirty="0">
                  <a:solidFill>
                    <a:srgbClr val="59595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API Gateway</a:t>
              </a:r>
              <a:endParaRPr lang="en-US" sz="3500" dirty="0"/>
            </a:p>
            <a:p>
              <a:pPr algn="ctr"/>
              <a:r>
                <a:rPr lang="en-US" sz="2500" dirty="0">
                  <a:solidFill>
                    <a:srgbClr val="9A9A9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1차: </a:t>
              </a:r>
              <a:r>
                <a:rPr lang="en-US" sz="2500" dirty="0" err="1">
                  <a:solidFill>
                    <a:srgbClr val="9A9A9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서명·만료</a:t>
              </a:r>
              <a:r>
                <a:rPr lang="en-US" sz="2500" dirty="0">
                  <a:solidFill>
                    <a:srgbClr val="9A9A9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sz="2500" dirty="0" err="1">
                  <a:solidFill>
                    <a:srgbClr val="9A9A9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검증</a:t>
              </a:r>
              <a:endParaRPr lang="en-US" sz="2500" dirty="0"/>
            </a:p>
          </p:txBody>
        </p:sp>
      </p:grpSp>
      <p:sp>
        <p:nvSpPr>
          <p:cNvPr id="33" name="Shape 13">
            <a:extLst>
              <a:ext uri="{FF2B5EF4-FFF2-40B4-BE49-F238E27FC236}">
                <a16:creationId xmlns:a16="http://schemas.microsoft.com/office/drawing/2014/main" id="{FB5FF672-9434-4A96-A535-5ACB45EB0F40}"/>
              </a:ext>
            </a:extLst>
          </p:cNvPr>
          <p:cNvSpPr/>
          <p:nvPr/>
        </p:nvSpPr>
        <p:spPr>
          <a:xfrm>
            <a:off x="17044582" y="5689767"/>
            <a:ext cx="897024" cy="20620"/>
          </a:xfrm>
          <a:prstGeom prst="line">
            <a:avLst/>
          </a:prstGeom>
          <a:noFill/>
          <a:ln w="50800">
            <a:solidFill>
              <a:srgbClr val="B5B5B5"/>
            </a:solidFill>
            <a:prstDash val="solid"/>
            <a:tailEnd type="triangle"/>
          </a:ln>
        </p:spPr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DB6ADEEE-D0B3-46B8-8A72-E963CABF3F65}"/>
              </a:ext>
            </a:extLst>
          </p:cNvPr>
          <p:cNvGrpSpPr/>
          <p:nvPr/>
        </p:nvGrpSpPr>
        <p:grpSpPr>
          <a:xfrm>
            <a:off x="17941606" y="4615200"/>
            <a:ext cx="4143600" cy="2026800"/>
            <a:chOff x="14401800" y="5533717"/>
            <a:chExt cx="2514600" cy="868680"/>
          </a:xfrm>
        </p:grpSpPr>
        <p:sp>
          <p:nvSpPr>
            <p:cNvPr id="34" name="Shape 14">
              <a:extLst>
                <a:ext uri="{FF2B5EF4-FFF2-40B4-BE49-F238E27FC236}">
                  <a16:creationId xmlns:a16="http://schemas.microsoft.com/office/drawing/2014/main" id="{615A6FDF-767B-46EC-97A2-1249CC7A752A}"/>
                </a:ext>
              </a:extLst>
            </p:cNvPr>
            <p:cNvSpPr/>
            <p:nvPr/>
          </p:nvSpPr>
          <p:spPr>
            <a:xfrm>
              <a:off x="14401800" y="5533717"/>
              <a:ext cx="2514600" cy="868680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12700">
              <a:solidFill>
                <a:srgbClr val="595959"/>
              </a:solidFill>
              <a:prstDash val="solid"/>
            </a:ln>
          </p:spPr>
        </p:sp>
        <p:sp>
          <p:nvSpPr>
            <p:cNvPr id="35" name="Text 15">
              <a:extLst>
                <a:ext uri="{FF2B5EF4-FFF2-40B4-BE49-F238E27FC236}">
                  <a16:creationId xmlns:a16="http://schemas.microsoft.com/office/drawing/2014/main" id="{CC4D176C-051B-412A-8D6F-EFFCDF61FDB0}"/>
                </a:ext>
              </a:extLst>
            </p:cNvPr>
            <p:cNvSpPr txBox="1"/>
            <p:nvPr/>
          </p:nvSpPr>
          <p:spPr>
            <a:xfrm>
              <a:off x="14401800" y="5533717"/>
              <a:ext cx="2514600" cy="868680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/>
            <a:lstStyle/>
            <a:p>
              <a:pPr algn="ctr"/>
              <a:r>
                <a:rPr lang="en-US" sz="3500" b="1" dirty="0">
                  <a:solidFill>
                    <a:srgbClr val="59595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도메인 서비스</a:t>
              </a:r>
              <a:endParaRPr lang="en-US" sz="3500" dirty="0"/>
            </a:p>
            <a:p>
              <a:pPr algn="ctr"/>
              <a:r>
                <a:rPr lang="en-US" sz="2500" dirty="0">
                  <a:solidFill>
                    <a:srgbClr val="9A9A9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2차 검증 + 역할 인가</a:t>
              </a:r>
              <a:endParaRPr lang="en-US" sz="2500" dirty="0"/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E100CD3B-0958-404C-975C-9A7D34EE23C4}"/>
              </a:ext>
            </a:extLst>
          </p:cNvPr>
          <p:cNvGrpSpPr/>
          <p:nvPr/>
        </p:nvGrpSpPr>
        <p:grpSpPr>
          <a:xfrm>
            <a:off x="5257800" y="8018623"/>
            <a:ext cx="4141829" cy="3172085"/>
            <a:chOff x="6019800" y="8177203"/>
            <a:chExt cx="2776427" cy="1636883"/>
          </a:xfrm>
        </p:grpSpPr>
        <p:sp>
          <p:nvSpPr>
            <p:cNvPr id="37" name="Shape 6">
              <a:extLst>
                <a:ext uri="{FF2B5EF4-FFF2-40B4-BE49-F238E27FC236}">
                  <a16:creationId xmlns:a16="http://schemas.microsoft.com/office/drawing/2014/main" id="{11594583-A09E-478E-9C0A-AECF9D9FFC2E}"/>
                </a:ext>
              </a:extLst>
            </p:cNvPr>
            <p:cNvSpPr/>
            <p:nvPr/>
          </p:nvSpPr>
          <p:spPr>
            <a:xfrm>
              <a:off x="6019800" y="8177203"/>
              <a:ext cx="2776427" cy="1636883"/>
            </a:xfrm>
            <a:prstGeom prst="roundRect">
              <a:avLst>
                <a:gd name="adj" fmla="val 5926"/>
              </a:avLst>
            </a:prstGeom>
            <a:solidFill>
              <a:srgbClr val="FFFFFF"/>
            </a:solidFill>
            <a:ln w="12700">
              <a:solidFill>
                <a:srgbClr val="595959"/>
              </a:solidFill>
              <a:prstDash val="solid"/>
            </a:ln>
          </p:spPr>
        </p:sp>
        <p:sp>
          <p:nvSpPr>
            <p:cNvPr id="38" name="Text 7">
              <a:extLst>
                <a:ext uri="{FF2B5EF4-FFF2-40B4-BE49-F238E27FC236}">
                  <a16:creationId xmlns:a16="http://schemas.microsoft.com/office/drawing/2014/main" id="{5F7A5908-2203-41FB-98B5-73FFEE7089E1}"/>
                </a:ext>
              </a:extLst>
            </p:cNvPr>
            <p:cNvSpPr txBox="1"/>
            <p:nvPr/>
          </p:nvSpPr>
          <p:spPr>
            <a:xfrm>
              <a:off x="6219908" y="8516046"/>
              <a:ext cx="2387727" cy="2420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spcAft>
                  <a:spcPts val="400"/>
                </a:spcAft>
              </a:pPr>
              <a:r>
                <a:rPr lang="en-US" sz="3000" b="1" dirty="0" err="1">
                  <a:solidFill>
                    <a:srgbClr val="E8846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대상자</a:t>
              </a:r>
              <a:r>
                <a:rPr lang="en-US" sz="3000" b="1" dirty="0">
                  <a:solidFill>
                    <a:srgbClr val="E8846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(USER)</a:t>
              </a:r>
              <a:endParaRPr lang="en-US" sz="3000" dirty="0"/>
            </a:p>
          </p:txBody>
        </p:sp>
        <p:sp>
          <p:nvSpPr>
            <p:cNvPr id="43" name="Text 7">
              <a:extLst>
                <a:ext uri="{FF2B5EF4-FFF2-40B4-BE49-F238E27FC236}">
                  <a16:creationId xmlns:a16="http://schemas.microsoft.com/office/drawing/2014/main" id="{4B6D3524-3BBB-4DF7-AE19-BB4E4AA0010B}"/>
                </a:ext>
              </a:extLst>
            </p:cNvPr>
            <p:cNvSpPr txBox="1"/>
            <p:nvPr/>
          </p:nvSpPr>
          <p:spPr>
            <a:xfrm>
              <a:off x="6206027" y="8900877"/>
              <a:ext cx="2387727" cy="5721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150000"/>
                </a:lnSpc>
              </a:pPr>
              <a:r>
                <a:rPr lang="ko-KR" altLang="en-US" sz="2500" dirty="0">
                  <a:solidFill>
                    <a:srgbClr val="59595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모니터링 대상 가구 본인</a:t>
              </a:r>
              <a:endParaRPr lang="en-US" altLang="ko-KR" sz="2500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2500" b="1" dirty="0">
                  <a:solidFill>
                    <a:srgbClr val="59595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본인 가구 </a:t>
              </a:r>
              <a:r>
                <a:rPr lang="en-US" altLang="ko-KR" sz="2500" b="1" dirty="0">
                  <a:solidFill>
                    <a:srgbClr val="59595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1</a:t>
              </a:r>
              <a:r>
                <a:rPr lang="ko-KR" altLang="en-US" sz="2500" b="1" dirty="0">
                  <a:solidFill>
                    <a:srgbClr val="59595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곳</a:t>
              </a:r>
              <a:endParaRPr lang="en-US" altLang="ko-KR" sz="25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endParaRPr>
            </a:p>
            <a:p>
              <a:pPr algn="ctr">
                <a:lnSpc>
                  <a:spcPct val="150000"/>
                </a:lnSpc>
              </a:pPr>
              <a:endParaRPr lang="en-US" sz="2500" dirty="0"/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BAB060A7-99FB-46E0-9656-92A99C4778E3}"/>
              </a:ext>
            </a:extLst>
          </p:cNvPr>
          <p:cNvGrpSpPr/>
          <p:nvPr/>
        </p:nvGrpSpPr>
        <p:grpSpPr>
          <a:xfrm>
            <a:off x="14632771" y="8024422"/>
            <a:ext cx="4143600" cy="3171600"/>
            <a:chOff x="12330412" y="8183002"/>
            <a:chExt cx="2776427" cy="1636882"/>
          </a:xfrm>
        </p:grpSpPr>
        <p:sp>
          <p:nvSpPr>
            <p:cNvPr id="41" name="Shape 10">
              <a:extLst>
                <a:ext uri="{FF2B5EF4-FFF2-40B4-BE49-F238E27FC236}">
                  <a16:creationId xmlns:a16="http://schemas.microsoft.com/office/drawing/2014/main" id="{1B54A02F-34E5-4F22-8465-1F93E01C1DE9}"/>
                </a:ext>
              </a:extLst>
            </p:cNvPr>
            <p:cNvSpPr/>
            <p:nvPr/>
          </p:nvSpPr>
          <p:spPr>
            <a:xfrm>
              <a:off x="12330412" y="8183002"/>
              <a:ext cx="2776427" cy="1636882"/>
            </a:xfrm>
            <a:prstGeom prst="roundRect">
              <a:avLst>
                <a:gd name="adj" fmla="val 5926"/>
              </a:avLst>
            </a:prstGeom>
            <a:solidFill>
              <a:srgbClr val="FFFFFF"/>
            </a:solidFill>
            <a:ln w="12700">
              <a:solidFill>
                <a:srgbClr val="595959"/>
              </a:solidFill>
              <a:prstDash val="solid"/>
            </a:ln>
          </p:spPr>
        </p:sp>
        <p:sp>
          <p:nvSpPr>
            <p:cNvPr id="42" name="Text 11">
              <a:extLst>
                <a:ext uri="{FF2B5EF4-FFF2-40B4-BE49-F238E27FC236}">
                  <a16:creationId xmlns:a16="http://schemas.microsoft.com/office/drawing/2014/main" id="{45135915-C783-41B2-982B-6B28939D0485}"/>
                </a:ext>
              </a:extLst>
            </p:cNvPr>
            <p:cNvSpPr txBox="1"/>
            <p:nvPr/>
          </p:nvSpPr>
          <p:spPr>
            <a:xfrm>
              <a:off x="12530521" y="8521843"/>
              <a:ext cx="2387727" cy="2327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spcAft>
                  <a:spcPts val="400"/>
                </a:spcAft>
              </a:pPr>
              <a:r>
                <a:rPr lang="en-US" sz="3000" b="1" dirty="0" err="1">
                  <a:solidFill>
                    <a:srgbClr val="E8846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관리자</a:t>
              </a:r>
              <a:r>
                <a:rPr lang="en-US" sz="3000" b="1" dirty="0">
                  <a:solidFill>
                    <a:srgbClr val="E8846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(ADMIN)</a:t>
              </a:r>
              <a:endParaRPr lang="en-US" sz="3000" dirty="0"/>
            </a:p>
          </p:txBody>
        </p:sp>
        <p:sp>
          <p:nvSpPr>
            <p:cNvPr id="44" name="Text 7">
              <a:extLst>
                <a:ext uri="{FF2B5EF4-FFF2-40B4-BE49-F238E27FC236}">
                  <a16:creationId xmlns:a16="http://schemas.microsoft.com/office/drawing/2014/main" id="{15E6B3C0-5C0E-48BA-B232-94A75394BA25}"/>
                </a:ext>
              </a:extLst>
            </p:cNvPr>
            <p:cNvSpPr txBox="1"/>
            <p:nvPr/>
          </p:nvSpPr>
          <p:spPr>
            <a:xfrm>
              <a:off x="12516638" y="8903960"/>
              <a:ext cx="2387727" cy="552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150000"/>
                </a:lnSpc>
              </a:pPr>
              <a:r>
                <a:rPr lang="ko-KR" altLang="en-US" sz="2500" dirty="0">
                  <a:solidFill>
                    <a:srgbClr val="59595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복지시설 </a:t>
              </a:r>
              <a:r>
                <a:rPr lang="en-US" altLang="ko-KR" sz="2500" dirty="0">
                  <a:solidFill>
                    <a:srgbClr val="59595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· </a:t>
              </a:r>
              <a:r>
                <a:rPr lang="ko-KR" altLang="en-US" sz="2500" dirty="0">
                  <a:solidFill>
                    <a:srgbClr val="59595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기관의 담당자</a:t>
              </a:r>
              <a:endParaRPr lang="en-US" altLang="ko-KR" sz="2500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2500" b="1" dirty="0">
                  <a:solidFill>
                    <a:srgbClr val="59595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담당 가구 전체</a:t>
              </a:r>
              <a:endParaRPr lang="en-US" sz="2500" b="1" dirty="0"/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9AC69EAB-4D67-41F2-8606-088341C84532}"/>
              </a:ext>
            </a:extLst>
          </p:cNvPr>
          <p:cNvGrpSpPr/>
          <p:nvPr/>
        </p:nvGrpSpPr>
        <p:grpSpPr>
          <a:xfrm>
            <a:off x="9944400" y="8024420"/>
            <a:ext cx="4143600" cy="3171600"/>
            <a:chOff x="9175106" y="8183000"/>
            <a:chExt cx="2776427" cy="1636884"/>
          </a:xfrm>
        </p:grpSpPr>
        <p:sp>
          <p:nvSpPr>
            <p:cNvPr id="39" name="Shape 8">
              <a:extLst>
                <a:ext uri="{FF2B5EF4-FFF2-40B4-BE49-F238E27FC236}">
                  <a16:creationId xmlns:a16="http://schemas.microsoft.com/office/drawing/2014/main" id="{202468A3-A8D4-4B22-8660-20E48A570D1B}"/>
                </a:ext>
              </a:extLst>
            </p:cNvPr>
            <p:cNvSpPr/>
            <p:nvPr/>
          </p:nvSpPr>
          <p:spPr>
            <a:xfrm>
              <a:off x="9175106" y="8183000"/>
              <a:ext cx="2776427" cy="1636884"/>
            </a:xfrm>
            <a:prstGeom prst="roundRect">
              <a:avLst>
                <a:gd name="adj" fmla="val 5926"/>
              </a:avLst>
            </a:prstGeom>
            <a:solidFill>
              <a:srgbClr val="FFFFFF"/>
            </a:solidFill>
            <a:ln w="12700">
              <a:solidFill>
                <a:srgbClr val="595959"/>
              </a:solidFill>
              <a:prstDash val="solid"/>
            </a:ln>
          </p:spPr>
        </p:sp>
        <p:sp>
          <p:nvSpPr>
            <p:cNvPr id="40" name="Text 9">
              <a:extLst>
                <a:ext uri="{FF2B5EF4-FFF2-40B4-BE49-F238E27FC236}">
                  <a16:creationId xmlns:a16="http://schemas.microsoft.com/office/drawing/2014/main" id="{71A3863A-44FC-46E2-BD35-0AB506E9E5D4}"/>
                </a:ext>
              </a:extLst>
            </p:cNvPr>
            <p:cNvSpPr txBox="1"/>
            <p:nvPr/>
          </p:nvSpPr>
          <p:spPr>
            <a:xfrm>
              <a:off x="9375216" y="8516047"/>
              <a:ext cx="2387727" cy="2327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spcAft>
                  <a:spcPts val="400"/>
                </a:spcAft>
              </a:pPr>
              <a:r>
                <a:rPr lang="en-US" sz="3000" b="1" dirty="0" err="1">
                  <a:solidFill>
                    <a:srgbClr val="E8846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보호자</a:t>
              </a:r>
              <a:r>
                <a:rPr lang="en-US" sz="3000" b="1" dirty="0">
                  <a:solidFill>
                    <a:srgbClr val="E8846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(GUARDIAN)</a:t>
              </a:r>
              <a:endParaRPr lang="en-US" sz="3000" dirty="0"/>
            </a:p>
          </p:txBody>
        </p:sp>
        <p:sp>
          <p:nvSpPr>
            <p:cNvPr id="45" name="Text 7">
              <a:extLst>
                <a:ext uri="{FF2B5EF4-FFF2-40B4-BE49-F238E27FC236}">
                  <a16:creationId xmlns:a16="http://schemas.microsoft.com/office/drawing/2014/main" id="{DD44C5FC-92A5-4043-8005-E1F415F104C9}"/>
                </a:ext>
              </a:extLst>
            </p:cNvPr>
            <p:cNvSpPr txBox="1"/>
            <p:nvPr/>
          </p:nvSpPr>
          <p:spPr>
            <a:xfrm>
              <a:off x="9268219" y="8900877"/>
              <a:ext cx="2590200" cy="5502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150000"/>
                </a:lnSpc>
              </a:pPr>
              <a:r>
                <a:rPr lang="ko-KR" altLang="en-US" sz="2500" dirty="0">
                  <a:solidFill>
                    <a:srgbClr val="59595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대상자와 연결된 가족 </a:t>
              </a:r>
              <a:r>
                <a:rPr lang="en-US" altLang="ko-KR" sz="2500" dirty="0">
                  <a:solidFill>
                    <a:srgbClr val="59595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· </a:t>
              </a:r>
              <a:r>
                <a:rPr lang="ko-KR" altLang="en-US" sz="2500" dirty="0">
                  <a:solidFill>
                    <a:srgbClr val="59595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지인</a:t>
              </a:r>
              <a:endParaRPr lang="en-US" altLang="ko-KR" sz="2500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2500" b="1" dirty="0">
                  <a:solidFill>
                    <a:srgbClr val="595959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연결된 가구만</a:t>
              </a:r>
              <a:endParaRPr lang="en-US" sz="25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12332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" y="990600"/>
            <a:ext cx="22212300" cy="11925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" y="12280900"/>
            <a:ext cx="23037800" cy="77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2260600"/>
            <a:ext cx="21628100" cy="38100"/>
          </a:xfrm>
          <a:prstGeom prst="rect">
            <a:avLst/>
          </a:prstGeom>
        </p:spPr>
      </p:pic>
      <p:sp>
        <p:nvSpPr>
          <p:cNvPr id="10" name="TextBox 6">
            <a:extLst>
              <a:ext uri="{FF2B5EF4-FFF2-40B4-BE49-F238E27FC236}">
                <a16:creationId xmlns:a16="http://schemas.microsoft.com/office/drawing/2014/main" id="{C4491BC0-DE7E-4F64-B5E7-CED047D85AC5}"/>
              </a:ext>
            </a:extLst>
          </p:cNvPr>
          <p:cNvSpPr txBox="1"/>
          <p:nvPr/>
        </p:nvSpPr>
        <p:spPr>
          <a:xfrm>
            <a:off x="1562100" y="1600200"/>
            <a:ext cx="3822700" cy="381000"/>
          </a:xfrm>
          <a:prstGeom prst="rect">
            <a:avLst/>
          </a:prstGeom>
        </p:spPr>
        <p:txBody>
          <a:bodyPr lIns="0" tIns="127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altLang="ko-KR" sz="1999" b="1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NILM-NALM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B5B6ADF-4BB5-4719-A8EE-1DB53090EB6B}"/>
              </a:ext>
            </a:extLst>
          </p:cNvPr>
          <p:cNvSpPr>
            <a:spLocks/>
          </p:cNvSpPr>
          <p:nvPr/>
        </p:nvSpPr>
        <p:spPr>
          <a:xfrm>
            <a:off x="1760732" y="4983568"/>
            <a:ext cx="4419600" cy="5829300"/>
          </a:xfrm>
          <a:prstGeom prst="roundRect">
            <a:avLst/>
          </a:prstGeom>
          <a:solidFill>
            <a:srgbClr val="FFFFFF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59F6E16-3CC1-4B91-8239-93FFA42F664C}"/>
              </a:ext>
            </a:extLst>
          </p:cNvPr>
          <p:cNvSpPr>
            <a:spLocks/>
          </p:cNvSpPr>
          <p:nvPr/>
        </p:nvSpPr>
        <p:spPr>
          <a:xfrm>
            <a:off x="7272300" y="4983568"/>
            <a:ext cx="4419600" cy="5829300"/>
          </a:xfrm>
          <a:prstGeom prst="roundRect">
            <a:avLst/>
          </a:prstGeom>
          <a:solidFill>
            <a:srgbClr val="FFFFFF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14628E5-3F59-4059-A4A7-ECC7CB90A015}"/>
              </a:ext>
            </a:extLst>
          </p:cNvPr>
          <p:cNvSpPr>
            <a:spLocks/>
          </p:cNvSpPr>
          <p:nvPr/>
        </p:nvSpPr>
        <p:spPr>
          <a:xfrm>
            <a:off x="12780150" y="4983568"/>
            <a:ext cx="4419600" cy="5829300"/>
          </a:xfrm>
          <a:prstGeom prst="roundRect">
            <a:avLst/>
          </a:prstGeom>
          <a:solidFill>
            <a:srgbClr val="FFFFFF"/>
          </a:solidFill>
          <a:ln>
            <a:solidFill>
              <a:srgbClr val="59595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0D54DD4-BE56-4D10-973B-768916F5BD3F}"/>
              </a:ext>
            </a:extLst>
          </p:cNvPr>
          <p:cNvSpPr>
            <a:spLocks/>
          </p:cNvSpPr>
          <p:nvPr/>
        </p:nvSpPr>
        <p:spPr>
          <a:xfrm>
            <a:off x="18288000" y="4983568"/>
            <a:ext cx="4419600" cy="5829300"/>
          </a:xfrm>
          <a:prstGeom prst="roundRect">
            <a:avLst/>
          </a:prstGeom>
          <a:solidFill>
            <a:srgbClr val="FFFFFF"/>
          </a:solidFill>
          <a:ln>
            <a:solidFill>
              <a:srgbClr val="59595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4A764B36-E80E-481C-8044-202599EEBF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Freeform 2">
            <a:extLst>
              <a:ext uri="{FF2B5EF4-FFF2-40B4-BE49-F238E27FC236}">
                <a16:creationId xmlns:a16="http://schemas.microsoft.com/office/drawing/2014/main" id="{D6E5422F-3D75-413C-8DBC-BAEA32533127}"/>
              </a:ext>
            </a:extLst>
          </p:cNvPr>
          <p:cNvSpPr/>
          <p:nvPr/>
        </p:nvSpPr>
        <p:spPr>
          <a:xfrm>
            <a:off x="19134332" y="5653337"/>
            <a:ext cx="2895600" cy="2129497"/>
          </a:xfrm>
          <a:custGeom>
            <a:avLst/>
            <a:gdLst/>
            <a:ahLst/>
            <a:cxnLst/>
            <a:rect l="l" t="t" r="r" b="b"/>
            <a:pathLst>
              <a:path w="4840941" h="4114800">
                <a:moveTo>
                  <a:pt x="0" y="0"/>
                </a:moveTo>
                <a:lnTo>
                  <a:pt x="4840942" y="0"/>
                </a:lnTo>
                <a:lnTo>
                  <a:pt x="48409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0C1915-0BED-405F-8AD4-DBC956F075D1}"/>
              </a:ext>
            </a:extLst>
          </p:cNvPr>
          <p:cNvSpPr txBox="1"/>
          <p:nvPr/>
        </p:nvSpPr>
        <p:spPr>
          <a:xfrm>
            <a:off x="2675132" y="6427773"/>
            <a:ext cx="25146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5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측정 데이터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A00B45-AAB2-4548-A31A-7565E8C0D473}"/>
              </a:ext>
            </a:extLst>
          </p:cNvPr>
          <p:cNvSpPr txBox="1"/>
          <p:nvPr/>
        </p:nvSpPr>
        <p:spPr>
          <a:xfrm>
            <a:off x="2675132" y="8747430"/>
            <a:ext cx="25146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5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시뮬레이터</a:t>
            </a:r>
          </a:p>
        </p:txBody>
      </p:sp>
      <p:pic>
        <p:nvPicPr>
          <p:cNvPr id="1042" name="Picture 18" descr="알림 - 무료 상호 작용개 아이콘">
            <a:extLst>
              <a:ext uri="{FF2B5EF4-FFF2-40B4-BE49-F238E27FC236}">
                <a16:creationId xmlns:a16="http://schemas.microsoft.com/office/drawing/2014/main" id="{94CBB1E8-F6EE-4604-A37F-448D553347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61512" y="7976431"/>
            <a:ext cx="2672575" cy="267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Introduction to MQTT: The protocol for IoT &amp; buildings">
            <a:extLst>
              <a:ext uri="{FF2B5EF4-FFF2-40B4-BE49-F238E27FC236}">
                <a16:creationId xmlns:a16="http://schemas.microsoft.com/office/drawing/2014/main" id="{6C854146-4A43-4076-8B05-9672A3E2C1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3225" y="5520138"/>
            <a:ext cx="2381250" cy="2040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enable.auto.commit 일 때 Kafka consumer close() method 동작분석">
            <a:extLst>
              <a:ext uri="{FF2B5EF4-FFF2-40B4-BE49-F238E27FC236}">
                <a16:creationId xmlns:a16="http://schemas.microsoft.com/office/drawing/2014/main" id="{104C573F-214E-41A6-B4F7-B1CA7C803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7552" y="7763785"/>
            <a:ext cx="2381250" cy="2598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ED4F604A-796E-4E44-8DA6-0FC74016FFCC}"/>
              </a:ext>
            </a:extLst>
          </p:cNvPr>
          <p:cNvSpPr/>
          <p:nvPr/>
        </p:nvSpPr>
        <p:spPr>
          <a:xfrm>
            <a:off x="6256532" y="7585983"/>
            <a:ext cx="935850" cy="77470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E3E8F0C3-95BC-44BB-B5A4-BB23706FB9B9}"/>
              </a:ext>
            </a:extLst>
          </p:cNvPr>
          <p:cNvSpPr/>
          <p:nvPr/>
        </p:nvSpPr>
        <p:spPr>
          <a:xfrm>
            <a:off x="11786685" y="7585983"/>
            <a:ext cx="935850" cy="77470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0F3C4EF3-E9E6-4916-82D6-6F329A61668C}"/>
              </a:ext>
            </a:extLst>
          </p:cNvPr>
          <p:cNvSpPr/>
          <p:nvPr/>
        </p:nvSpPr>
        <p:spPr>
          <a:xfrm>
            <a:off x="17275950" y="7585983"/>
            <a:ext cx="935850" cy="77470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FB1A11F7-6901-4A72-9392-81C489CABFF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087582" y="6070965"/>
            <a:ext cx="3804735" cy="3804735"/>
          </a:xfrm>
          <a:prstGeom prst="rect">
            <a:avLst/>
          </a:prstGeom>
        </p:spPr>
      </p:pic>
      <p:sp>
        <p:nvSpPr>
          <p:cNvPr id="39" name="Text 4">
            <a:extLst>
              <a:ext uri="{FF2B5EF4-FFF2-40B4-BE49-F238E27FC236}">
                <a16:creationId xmlns:a16="http://schemas.microsoft.com/office/drawing/2014/main" id="{5C021A51-7F32-4693-B7C8-DDC05758A87D}"/>
              </a:ext>
            </a:extLst>
          </p:cNvPr>
          <p:cNvSpPr txBox="1"/>
          <p:nvPr/>
        </p:nvSpPr>
        <p:spPr>
          <a:xfrm>
            <a:off x="1463040" y="2637189"/>
            <a:ext cx="214518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0" dirty="0">
                <a:solidFill>
                  <a:srgbClr val="595959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Noto Sans KR" pitchFamily="34" charset="-120"/>
              </a:rPr>
              <a:t>데이터 흐름</a:t>
            </a:r>
            <a:endParaRPr lang="en-US" altLang="ko-KR" sz="65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" y="990600"/>
            <a:ext cx="22212300" cy="11925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" y="12280900"/>
            <a:ext cx="23037800" cy="77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2260600"/>
            <a:ext cx="21628100" cy="38100"/>
          </a:xfrm>
          <a:prstGeom prst="rect">
            <a:avLst/>
          </a:prstGeom>
        </p:spPr>
      </p:pic>
      <p:sp>
        <p:nvSpPr>
          <p:cNvPr id="10" name="TextBox 12">
            <a:extLst>
              <a:ext uri="{FF2B5EF4-FFF2-40B4-BE49-F238E27FC236}">
                <a16:creationId xmlns:a16="http://schemas.microsoft.com/office/drawing/2014/main" id="{83E31AAA-808F-49CB-B9DE-4A75758308AA}"/>
              </a:ext>
            </a:extLst>
          </p:cNvPr>
          <p:cNvSpPr txBox="1"/>
          <p:nvPr/>
        </p:nvSpPr>
        <p:spPr>
          <a:xfrm>
            <a:off x="3305175" y="3744835"/>
            <a:ext cx="1905000" cy="1377950"/>
          </a:xfrm>
          <a:prstGeom prst="rect">
            <a:avLst/>
          </a:prstGeom>
        </p:spPr>
        <p:txBody>
          <a:bodyPr lIns="0" tIns="45719" rIns="0" bIns="0" rtlCol="0" anchor="t"/>
          <a:lstStyle/>
          <a:p>
            <a:pPr algn="ctr"/>
            <a:r>
              <a:rPr lang="en-US" altLang="ko-KR" sz="7200" b="1" dirty="0">
                <a:ln>
                  <a:solidFill>
                    <a:srgbClr val="1D9BE6">
                      <a:alpha val="0"/>
                    </a:srgbClr>
                  </a:solidFill>
                </a:ln>
                <a:solidFill>
                  <a:srgbClr val="E8846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</a:t>
            </a:r>
            <a:endParaRPr lang="ko-KR" altLang="en-US" sz="7200" b="1" dirty="0">
              <a:ln>
                <a:solidFill>
                  <a:srgbClr val="1D9BE6">
                    <a:alpha val="0"/>
                  </a:srgbClr>
                </a:solidFill>
              </a:ln>
              <a:solidFill>
                <a:srgbClr val="E8846B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Box 12">
            <a:extLst>
              <a:ext uri="{FF2B5EF4-FFF2-40B4-BE49-F238E27FC236}">
                <a16:creationId xmlns:a16="http://schemas.microsoft.com/office/drawing/2014/main" id="{8E249907-EE8B-4A17-A6D2-F01B62FECFDD}"/>
              </a:ext>
            </a:extLst>
          </p:cNvPr>
          <p:cNvSpPr txBox="1"/>
          <p:nvPr/>
        </p:nvSpPr>
        <p:spPr>
          <a:xfrm>
            <a:off x="3130550" y="6597108"/>
            <a:ext cx="2254250" cy="1377950"/>
          </a:xfrm>
          <a:prstGeom prst="rect">
            <a:avLst/>
          </a:prstGeom>
        </p:spPr>
        <p:txBody>
          <a:bodyPr lIns="0" tIns="45719" rIns="0" bIns="0" rtlCol="0" anchor="t"/>
          <a:lstStyle/>
          <a:p>
            <a:pPr algn="ctr"/>
            <a:r>
              <a:rPr lang="en-US" altLang="ko-KR" sz="7200" b="1" dirty="0">
                <a:ln>
                  <a:solidFill>
                    <a:srgbClr val="1D9BE6">
                      <a:alpha val="0"/>
                    </a:srgbClr>
                  </a:solidFill>
                </a:ln>
                <a:solidFill>
                  <a:srgbClr val="E8846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Main</a:t>
            </a:r>
            <a:endParaRPr lang="ko-KR" altLang="en-US" sz="7200" b="1" dirty="0">
              <a:ln>
                <a:solidFill>
                  <a:srgbClr val="1D9BE6">
                    <a:alpha val="0"/>
                  </a:srgbClr>
                </a:solidFill>
              </a:ln>
              <a:solidFill>
                <a:srgbClr val="E8846B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DEDF6EC5-BC97-4AB8-84AA-6F3C678F82E8}"/>
              </a:ext>
            </a:extLst>
          </p:cNvPr>
          <p:cNvSpPr txBox="1"/>
          <p:nvPr/>
        </p:nvSpPr>
        <p:spPr>
          <a:xfrm>
            <a:off x="3305175" y="9443805"/>
            <a:ext cx="1905000" cy="1377950"/>
          </a:xfrm>
          <a:prstGeom prst="rect">
            <a:avLst/>
          </a:prstGeom>
        </p:spPr>
        <p:txBody>
          <a:bodyPr lIns="0" tIns="45719" rIns="0" bIns="0" rtlCol="0" anchor="t"/>
          <a:lstStyle/>
          <a:p>
            <a:pPr algn="ctr"/>
            <a:r>
              <a:rPr lang="en-US" altLang="ko-KR" sz="7200" b="1" dirty="0">
                <a:ln>
                  <a:solidFill>
                    <a:srgbClr val="1D9BE6">
                      <a:alpha val="0"/>
                    </a:srgbClr>
                  </a:solidFill>
                </a:ln>
                <a:solidFill>
                  <a:srgbClr val="E8846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7200" b="1" dirty="0">
              <a:ln>
                <a:solidFill>
                  <a:srgbClr val="1D9BE6">
                    <a:alpha val="0"/>
                  </a:srgbClr>
                </a:solidFill>
              </a:ln>
              <a:solidFill>
                <a:srgbClr val="E8846B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9ACC369A-E241-459F-8AF9-72AAF902BECE}"/>
              </a:ext>
            </a:extLst>
          </p:cNvPr>
          <p:cNvSpPr txBox="1"/>
          <p:nvPr/>
        </p:nvSpPr>
        <p:spPr>
          <a:xfrm>
            <a:off x="1562100" y="1600200"/>
            <a:ext cx="3822700" cy="381000"/>
          </a:xfrm>
          <a:prstGeom prst="rect">
            <a:avLst/>
          </a:prstGeom>
        </p:spPr>
        <p:txBody>
          <a:bodyPr lIns="0" tIns="127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altLang="ko-KR" sz="1999" b="1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NILM-NALM</a:t>
            </a:r>
          </a:p>
        </p:txBody>
      </p:sp>
    </p:spTree>
    <p:extLst>
      <p:ext uri="{BB962C8B-B14F-4D97-AF65-F5344CB8AC3E}">
        <p14:creationId xmlns:p14="http://schemas.microsoft.com/office/powerpoint/2010/main" val="939033556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" y="990600"/>
            <a:ext cx="22212300" cy="11925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" y="12280900"/>
            <a:ext cx="23037800" cy="77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2260600"/>
            <a:ext cx="21628100" cy="38100"/>
          </a:xfrm>
          <a:prstGeom prst="rect">
            <a:avLst/>
          </a:prstGeom>
        </p:spPr>
      </p:pic>
      <p:sp>
        <p:nvSpPr>
          <p:cNvPr id="10" name="TextBox 12">
            <a:extLst>
              <a:ext uri="{FF2B5EF4-FFF2-40B4-BE49-F238E27FC236}">
                <a16:creationId xmlns:a16="http://schemas.microsoft.com/office/drawing/2014/main" id="{83E31AAA-808F-49CB-B9DE-4A75758308AA}"/>
              </a:ext>
            </a:extLst>
          </p:cNvPr>
          <p:cNvSpPr txBox="1"/>
          <p:nvPr/>
        </p:nvSpPr>
        <p:spPr>
          <a:xfrm>
            <a:off x="3305174" y="3744835"/>
            <a:ext cx="17497425" cy="1377950"/>
          </a:xfrm>
          <a:prstGeom prst="rect">
            <a:avLst/>
          </a:prstGeom>
        </p:spPr>
        <p:txBody>
          <a:bodyPr lIns="0" tIns="45719" rIns="0" bIns="0" rtlCol="0" anchor="t"/>
          <a:lstStyle/>
          <a:p>
            <a:r>
              <a:rPr lang="en-US" altLang="ko-KR" sz="8000" b="1" dirty="0">
                <a:ln>
                  <a:solidFill>
                    <a:srgbClr val="1D9BE6">
                      <a:alpha val="0"/>
                    </a:srgbClr>
                  </a:solidFill>
                </a:ln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H001~H010</a:t>
            </a:r>
            <a:r>
              <a:rPr lang="en-US" altLang="ko-KR" sz="8000" b="1" dirty="0">
                <a:ln>
                  <a:solidFill>
                    <a:srgbClr val="1D9BE6">
                      <a:alpha val="0"/>
                    </a:srgbClr>
                  </a:solidFill>
                </a:ln>
                <a:solidFill>
                  <a:srgbClr val="78787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8800" b="1" dirty="0">
                <a:ln>
                  <a:solidFill>
                    <a:srgbClr val="1D9BE6">
                      <a:alpha val="0"/>
                    </a:srgbClr>
                  </a:solidFill>
                </a:ln>
                <a:solidFill>
                  <a:srgbClr val="E8846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</a:t>
            </a:r>
            <a:r>
              <a:rPr lang="ko-KR" altLang="en-US" sz="8000" b="1" dirty="0">
                <a:ln>
                  <a:solidFill>
                    <a:srgbClr val="1D9BE6">
                      <a:alpha val="0"/>
                    </a:srgbClr>
                  </a:solidFill>
                </a:ln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 가구 </a:t>
            </a:r>
          </a:p>
        </p:txBody>
      </p:sp>
      <p:sp>
        <p:nvSpPr>
          <p:cNvPr id="11" name="TextBox 12">
            <a:extLst>
              <a:ext uri="{FF2B5EF4-FFF2-40B4-BE49-F238E27FC236}">
                <a16:creationId xmlns:a16="http://schemas.microsoft.com/office/drawing/2014/main" id="{8E249907-EE8B-4A17-A6D2-F01B62FECFDD}"/>
              </a:ext>
            </a:extLst>
          </p:cNvPr>
          <p:cNvSpPr txBox="1"/>
          <p:nvPr/>
        </p:nvSpPr>
        <p:spPr>
          <a:xfrm>
            <a:off x="3130550" y="6597108"/>
            <a:ext cx="2254250" cy="1377950"/>
          </a:xfrm>
          <a:prstGeom prst="rect">
            <a:avLst/>
          </a:prstGeom>
        </p:spPr>
        <p:txBody>
          <a:bodyPr lIns="0" tIns="45719" rIns="0" bIns="0" rtlCol="0" anchor="t"/>
          <a:lstStyle/>
          <a:p>
            <a:pPr algn="ctr"/>
            <a:r>
              <a:rPr lang="en-US" altLang="ko-KR" sz="7200" b="1" dirty="0">
                <a:ln>
                  <a:solidFill>
                    <a:srgbClr val="1D9BE6">
                      <a:alpha val="0"/>
                    </a:srgbClr>
                  </a:solidFill>
                </a:ln>
                <a:solidFill>
                  <a:srgbClr val="E8846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Main</a:t>
            </a:r>
            <a:endParaRPr lang="ko-KR" altLang="en-US" sz="7200" b="1" dirty="0">
              <a:ln>
                <a:solidFill>
                  <a:srgbClr val="1D9BE6">
                    <a:alpha val="0"/>
                  </a:srgbClr>
                </a:solidFill>
              </a:ln>
              <a:solidFill>
                <a:srgbClr val="E8846B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DEDF6EC5-BC97-4AB8-84AA-6F3C678F82E8}"/>
              </a:ext>
            </a:extLst>
          </p:cNvPr>
          <p:cNvSpPr txBox="1"/>
          <p:nvPr/>
        </p:nvSpPr>
        <p:spPr>
          <a:xfrm>
            <a:off x="3305175" y="9443805"/>
            <a:ext cx="1905000" cy="1377950"/>
          </a:xfrm>
          <a:prstGeom prst="rect">
            <a:avLst/>
          </a:prstGeom>
        </p:spPr>
        <p:txBody>
          <a:bodyPr lIns="0" tIns="45719" rIns="0" bIns="0" rtlCol="0" anchor="t"/>
          <a:lstStyle/>
          <a:p>
            <a:pPr algn="ctr"/>
            <a:r>
              <a:rPr lang="en-US" altLang="ko-KR" sz="7200" b="1" dirty="0">
                <a:ln>
                  <a:solidFill>
                    <a:srgbClr val="1D9BE6">
                      <a:alpha val="0"/>
                    </a:srgbClr>
                  </a:solidFill>
                </a:ln>
                <a:solidFill>
                  <a:srgbClr val="E8846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7200" b="1" dirty="0">
              <a:ln>
                <a:solidFill>
                  <a:srgbClr val="1D9BE6">
                    <a:alpha val="0"/>
                  </a:srgbClr>
                </a:solidFill>
              </a:ln>
              <a:solidFill>
                <a:srgbClr val="E8846B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24225EA2-E92D-47B5-8F72-42427341FF7D}"/>
              </a:ext>
            </a:extLst>
          </p:cNvPr>
          <p:cNvGrpSpPr/>
          <p:nvPr/>
        </p:nvGrpSpPr>
        <p:grpSpPr>
          <a:xfrm>
            <a:off x="13258800" y="3645994"/>
            <a:ext cx="9533940" cy="7901373"/>
            <a:chOff x="13700710" y="3645994"/>
            <a:chExt cx="9533940" cy="7901373"/>
          </a:xfrm>
        </p:grpSpPr>
        <p:pic>
          <p:nvPicPr>
            <p:cNvPr id="2052" name="Picture 4" descr="십각별 - 위키백과, 우리 모두의 백과사전">
              <a:extLst>
                <a:ext uri="{FF2B5EF4-FFF2-40B4-BE49-F238E27FC236}">
                  <a16:creationId xmlns:a16="http://schemas.microsoft.com/office/drawing/2014/main" id="{98740C83-3150-4F7D-8BCC-72CB5FFBB5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99371" y="3718815"/>
              <a:ext cx="8186858" cy="77903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849F9F6-EAB7-4EA8-979A-2BB8F24512F7}"/>
                </a:ext>
              </a:extLst>
            </p:cNvPr>
            <p:cNvSpPr/>
            <p:nvPr/>
          </p:nvSpPr>
          <p:spPr>
            <a:xfrm>
              <a:off x="16402824" y="3645994"/>
              <a:ext cx="1981200" cy="727733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H001</a:t>
              </a:r>
              <a:endParaRPr lang="ko-KR" altLang="en-US" sz="20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6F588F9-ADF1-423E-82FF-5AF4B9FA435E}"/>
                </a:ext>
              </a:extLst>
            </p:cNvPr>
            <p:cNvSpPr/>
            <p:nvPr/>
          </p:nvSpPr>
          <p:spPr>
            <a:xfrm>
              <a:off x="18760110" y="3695477"/>
              <a:ext cx="1981200" cy="727733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H002</a:t>
              </a:r>
              <a:endParaRPr lang="ko-KR" altLang="en-US" sz="20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6629B44F-6B30-4A0E-AEB5-1178D7F5A71C}"/>
                </a:ext>
              </a:extLst>
            </p:cNvPr>
            <p:cNvSpPr/>
            <p:nvPr/>
          </p:nvSpPr>
          <p:spPr>
            <a:xfrm>
              <a:off x="20641836" y="5024698"/>
              <a:ext cx="1981200" cy="727733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H004</a:t>
              </a:r>
              <a:endParaRPr lang="ko-KR" altLang="en-US" sz="20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76853C7-251E-45E2-B7E0-28CE293C0BF4}"/>
                </a:ext>
              </a:extLst>
            </p:cNvPr>
            <p:cNvSpPr/>
            <p:nvPr/>
          </p:nvSpPr>
          <p:spPr>
            <a:xfrm>
              <a:off x="21253450" y="7063433"/>
              <a:ext cx="1981200" cy="727733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H006</a:t>
              </a:r>
              <a:endParaRPr lang="ko-KR" altLang="en-US" sz="20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8414587A-A7D9-4C73-804D-5AB8A6915D78}"/>
                </a:ext>
              </a:extLst>
            </p:cNvPr>
            <p:cNvSpPr/>
            <p:nvPr/>
          </p:nvSpPr>
          <p:spPr>
            <a:xfrm>
              <a:off x="20610628" y="9426072"/>
              <a:ext cx="1981200" cy="727733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H008</a:t>
              </a:r>
              <a:endParaRPr lang="ko-KR" altLang="en-US" sz="20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B120F30A-9608-4250-843F-94B0E940E9E6}"/>
                </a:ext>
              </a:extLst>
            </p:cNvPr>
            <p:cNvSpPr/>
            <p:nvPr/>
          </p:nvSpPr>
          <p:spPr>
            <a:xfrm>
              <a:off x="18799097" y="10781389"/>
              <a:ext cx="1981200" cy="727733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H010</a:t>
              </a:r>
              <a:endParaRPr lang="ko-KR" altLang="en-US" sz="20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610E95C1-C2AD-4031-98A5-5198127832E1}"/>
                </a:ext>
              </a:extLst>
            </p:cNvPr>
            <p:cNvSpPr/>
            <p:nvPr/>
          </p:nvSpPr>
          <p:spPr>
            <a:xfrm>
              <a:off x="16444951" y="10819634"/>
              <a:ext cx="1981200" cy="727733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H009</a:t>
              </a:r>
              <a:endParaRPr lang="ko-KR" altLang="en-US" sz="20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8EA7555F-CAE3-457B-AFDD-831D367B63BC}"/>
                </a:ext>
              </a:extLst>
            </p:cNvPr>
            <p:cNvSpPr/>
            <p:nvPr/>
          </p:nvSpPr>
          <p:spPr>
            <a:xfrm>
              <a:off x="14583200" y="9426072"/>
              <a:ext cx="1981200" cy="727733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H007</a:t>
              </a:r>
              <a:endParaRPr lang="ko-KR" altLang="en-US" sz="20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A0B2639F-76F5-4A93-BE85-EAF0C5A6D559}"/>
                </a:ext>
              </a:extLst>
            </p:cNvPr>
            <p:cNvSpPr/>
            <p:nvPr/>
          </p:nvSpPr>
          <p:spPr>
            <a:xfrm>
              <a:off x="13700710" y="7254928"/>
              <a:ext cx="1981200" cy="727733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H005</a:t>
              </a:r>
              <a:endParaRPr lang="ko-KR" altLang="en-US" sz="20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03AE4703-146F-4DB9-92BD-D1DECF1125C8}"/>
                </a:ext>
              </a:extLst>
            </p:cNvPr>
            <p:cNvSpPr/>
            <p:nvPr/>
          </p:nvSpPr>
          <p:spPr>
            <a:xfrm>
              <a:off x="14653208" y="5083785"/>
              <a:ext cx="1981200" cy="727733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H003</a:t>
              </a:r>
              <a:endParaRPr lang="ko-KR" altLang="en-US" sz="20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27" name="TextBox 6">
            <a:extLst>
              <a:ext uri="{FF2B5EF4-FFF2-40B4-BE49-F238E27FC236}">
                <a16:creationId xmlns:a16="http://schemas.microsoft.com/office/drawing/2014/main" id="{B6A907DE-FD34-44E7-9486-09B6B5374245}"/>
              </a:ext>
            </a:extLst>
          </p:cNvPr>
          <p:cNvSpPr txBox="1"/>
          <p:nvPr/>
        </p:nvSpPr>
        <p:spPr>
          <a:xfrm>
            <a:off x="1562100" y="1600200"/>
            <a:ext cx="3822700" cy="381000"/>
          </a:xfrm>
          <a:prstGeom prst="rect">
            <a:avLst/>
          </a:prstGeom>
        </p:spPr>
        <p:txBody>
          <a:bodyPr lIns="0" tIns="127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altLang="ko-KR" sz="1999" b="1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NILM-NALM</a:t>
            </a:r>
          </a:p>
        </p:txBody>
      </p:sp>
    </p:spTree>
    <p:extLst>
      <p:ext uri="{BB962C8B-B14F-4D97-AF65-F5344CB8AC3E}">
        <p14:creationId xmlns:p14="http://schemas.microsoft.com/office/powerpoint/2010/main" val="15440338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Word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" y="990600"/>
            <a:ext cx="22212300" cy="11925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" y="12280900"/>
            <a:ext cx="23037800" cy="77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2260600"/>
            <a:ext cx="21628100" cy="38100"/>
          </a:xfrm>
          <a:prstGeom prst="rect">
            <a:avLst/>
          </a:prstGeom>
        </p:spPr>
      </p:pic>
      <p:sp>
        <p:nvSpPr>
          <p:cNvPr id="10" name="TextBox 12">
            <a:extLst>
              <a:ext uri="{FF2B5EF4-FFF2-40B4-BE49-F238E27FC236}">
                <a16:creationId xmlns:a16="http://schemas.microsoft.com/office/drawing/2014/main" id="{83E31AAA-808F-49CB-B9DE-4A75758308AA}"/>
              </a:ext>
            </a:extLst>
          </p:cNvPr>
          <p:cNvSpPr txBox="1"/>
          <p:nvPr/>
        </p:nvSpPr>
        <p:spPr>
          <a:xfrm>
            <a:off x="3305174" y="3744835"/>
            <a:ext cx="17497425" cy="1377950"/>
          </a:xfrm>
          <a:prstGeom prst="rect">
            <a:avLst/>
          </a:prstGeom>
        </p:spPr>
        <p:txBody>
          <a:bodyPr lIns="0" tIns="45719" rIns="0" bIns="0" rtlCol="0" anchor="t"/>
          <a:lstStyle/>
          <a:p>
            <a:r>
              <a:rPr lang="en-US" altLang="ko-KR" sz="6600" b="1" dirty="0">
                <a:ln>
                  <a:solidFill>
                    <a:srgbClr val="1D9BE6">
                      <a:alpha val="0"/>
                    </a:srgbClr>
                  </a:solidFill>
                </a:ln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H001~H010</a:t>
            </a:r>
            <a:r>
              <a:rPr lang="en-US" altLang="ko-KR" sz="6600" b="1" dirty="0">
                <a:ln>
                  <a:solidFill>
                    <a:srgbClr val="1D9BE6">
                      <a:alpha val="0"/>
                    </a:srgbClr>
                  </a:solidFill>
                </a:ln>
                <a:solidFill>
                  <a:srgbClr val="78787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7200" b="1" dirty="0">
                <a:ln>
                  <a:solidFill>
                    <a:srgbClr val="1D9BE6">
                      <a:alpha val="0"/>
                    </a:srgbClr>
                  </a:solidFill>
                </a:ln>
                <a:solidFill>
                  <a:srgbClr val="E8846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</a:t>
            </a:r>
            <a:r>
              <a:rPr lang="ko-KR" altLang="en-US" sz="6600" b="1" dirty="0">
                <a:ln>
                  <a:solidFill>
                    <a:srgbClr val="1D9BE6">
                      <a:alpha val="0"/>
                    </a:srgbClr>
                  </a:solidFill>
                </a:ln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 가구 </a:t>
            </a:r>
          </a:p>
        </p:txBody>
      </p:sp>
      <p:sp>
        <p:nvSpPr>
          <p:cNvPr id="11" name="TextBox 12">
            <a:extLst>
              <a:ext uri="{FF2B5EF4-FFF2-40B4-BE49-F238E27FC236}">
                <a16:creationId xmlns:a16="http://schemas.microsoft.com/office/drawing/2014/main" id="{8E249907-EE8B-4A17-A6D2-F01B62FECFDD}"/>
              </a:ext>
            </a:extLst>
          </p:cNvPr>
          <p:cNvSpPr txBox="1"/>
          <p:nvPr/>
        </p:nvSpPr>
        <p:spPr>
          <a:xfrm>
            <a:off x="3130550" y="6597108"/>
            <a:ext cx="17595850" cy="1377950"/>
          </a:xfrm>
          <a:prstGeom prst="rect">
            <a:avLst/>
          </a:prstGeom>
        </p:spPr>
        <p:txBody>
          <a:bodyPr lIns="0" tIns="45719" rIns="0" bIns="0" rtlCol="0" anchor="t"/>
          <a:lstStyle/>
          <a:p>
            <a:r>
              <a:rPr lang="ko-KR" altLang="en-US" sz="8000" b="1" dirty="0">
                <a:ln>
                  <a:solidFill>
                    <a:srgbClr val="1D9BE6">
                      <a:alpha val="0"/>
                    </a:srgbClr>
                  </a:solidFill>
                </a:ln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가구별</a:t>
            </a:r>
            <a:r>
              <a:rPr lang="ko-KR" altLang="en-US" sz="8800" b="1" dirty="0">
                <a:ln>
                  <a:solidFill>
                    <a:srgbClr val="1D9BE6">
                      <a:alpha val="0"/>
                    </a:srgbClr>
                  </a:solidFill>
                </a:ln>
                <a:solidFill>
                  <a:srgbClr val="E8846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8800" b="1" dirty="0">
                <a:ln>
                  <a:solidFill>
                    <a:srgbClr val="1D9BE6">
                      <a:alpha val="0"/>
                    </a:srgbClr>
                  </a:solidFill>
                </a:ln>
                <a:solidFill>
                  <a:srgbClr val="E8846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Main </a:t>
            </a:r>
            <a:r>
              <a:rPr lang="ko-KR" altLang="en-US" sz="8000" b="1" dirty="0">
                <a:ln>
                  <a:solidFill>
                    <a:srgbClr val="1D9BE6">
                      <a:alpha val="0"/>
                    </a:srgbClr>
                  </a:solidFill>
                </a:ln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DEDF6EC5-BC97-4AB8-84AA-6F3C678F82E8}"/>
              </a:ext>
            </a:extLst>
          </p:cNvPr>
          <p:cNvSpPr txBox="1"/>
          <p:nvPr/>
        </p:nvSpPr>
        <p:spPr>
          <a:xfrm>
            <a:off x="3305175" y="9443805"/>
            <a:ext cx="1905000" cy="1377950"/>
          </a:xfrm>
          <a:prstGeom prst="rect">
            <a:avLst/>
          </a:prstGeom>
        </p:spPr>
        <p:txBody>
          <a:bodyPr lIns="0" tIns="45719" rIns="0" bIns="0" rtlCol="0" anchor="t"/>
          <a:lstStyle/>
          <a:p>
            <a:pPr algn="ctr"/>
            <a:r>
              <a:rPr lang="en-US" altLang="ko-KR" sz="7200" b="1" dirty="0">
                <a:ln>
                  <a:solidFill>
                    <a:srgbClr val="1D9BE6">
                      <a:alpha val="0"/>
                    </a:srgbClr>
                  </a:solidFill>
                </a:ln>
                <a:solidFill>
                  <a:srgbClr val="E8846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7200" b="1" dirty="0">
              <a:ln>
                <a:solidFill>
                  <a:srgbClr val="1D9BE6">
                    <a:alpha val="0"/>
                  </a:srgbClr>
                </a:solidFill>
              </a:ln>
              <a:solidFill>
                <a:srgbClr val="E8846B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074" name="Picture 2" descr="가정용 주택용분전반(노출) 5회로 2.5KA 차단기내장 - G마켓 모바일">
            <a:extLst>
              <a:ext uri="{FF2B5EF4-FFF2-40B4-BE49-F238E27FC236}">
                <a16:creationId xmlns:a16="http://schemas.microsoft.com/office/drawing/2014/main" id="{F1931B0E-10E9-4A16-A154-F3CC8965A3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19349" y="3857082"/>
            <a:ext cx="6858001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6">
            <a:extLst>
              <a:ext uri="{FF2B5EF4-FFF2-40B4-BE49-F238E27FC236}">
                <a16:creationId xmlns:a16="http://schemas.microsoft.com/office/drawing/2014/main" id="{4F47AD4C-BF8F-4354-BF32-C2386CFFAE5C}"/>
              </a:ext>
            </a:extLst>
          </p:cNvPr>
          <p:cNvSpPr txBox="1"/>
          <p:nvPr/>
        </p:nvSpPr>
        <p:spPr>
          <a:xfrm>
            <a:off x="1562100" y="1600200"/>
            <a:ext cx="3822700" cy="381000"/>
          </a:xfrm>
          <a:prstGeom prst="rect">
            <a:avLst/>
          </a:prstGeom>
        </p:spPr>
        <p:txBody>
          <a:bodyPr lIns="0" tIns="127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altLang="ko-KR" sz="1999" b="1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NILM-NALM</a:t>
            </a:r>
          </a:p>
        </p:txBody>
      </p:sp>
    </p:spTree>
    <p:extLst>
      <p:ext uri="{BB962C8B-B14F-4D97-AF65-F5344CB8AC3E}">
        <p14:creationId xmlns:p14="http://schemas.microsoft.com/office/powerpoint/2010/main" val="42220685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Word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" y="990600"/>
            <a:ext cx="22212300" cy="11925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" y="12280900"/>
            <a:ext cx="23037800" cy="77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2260600"/>
            <a:ext cx="21628100" cy="38100"/>
          </a:xfrm>
          <a:prstGeom prst="rect">
            <a:avLst/>
          </a:prstGeom>
        </p:spPr>
      </p:pic>
      <p:sp>
        <p:nvSpPr>
          <p:cNvPr id="10" name="TextBox 12">
            <a:extLst>
              <a:ext uri="{FF2B5EF4-FFF2-40B4-BE49-F238E27FC236}">
                <a16:creationId xmlns:a16="http://schemas.microsoft.com/office/drawing/2014/main" id="{83E31AAA-808F-49CB-B9DE-4A75758308AA}"/>
              </a:ext>
            </a:extLst>
          </p:cNvPr>
          <p:cNvSpPr txBox="1"/>
          <p:nvPr/>
        </p:nvSpPr>
        <p:spPr>
          <a:xfrm>
            <a:off x="3305174" y="3744835"/>
            <a:ext cx="17497425" cy="1377950"/>
          </a:xfrm>
          <a:prstGeom prst="rect">
            <a:avLst/>
          </a:prstGeom>
        </p:spPr>
        <p:txBody>
          <a:bodyPr lIns="0" tIns="45719" rIns="0" bIns="0" rtlCol="0" anchor="t"/>
          <a:lstStyle/>
          <a:p>
            <a:r>
              <a:rPr lang="en-US" altLang="ko-KR" sz="6600" b="1" dirty="0">
                <a:ln>
                  <a:solidFill>
                    <a:srgbClr val="1D9BE6">
                      <a:alpha val="0"/>
                    </a:srgbClr>
                  </a:solidFill>
                </a:ln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H001~H010</a:t>
            </a:r>
            <a:r>
              <a:rPr lang="en-US" altLang="ko-KR" sz="6600" b="1" dirty="0">
                <a:ln>
                  <a:solidFill>
                    <a:srgbClr val="1D9BE6">
                      <a:alpha val="0"/>
                    </a:srgbClr>
                  </a:solidFill>
                </a:ln>
                <a:solidFill>
                  <a:srgbClr val="78787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7200" b="1" dirty="0">
                <a:ln>
                  <a:solidFill>
                    <a:srgbClr val="1D9BE6">
                      <a:alpha val="0"/>
                    </a:srgbClr>
                  </a:solidFill>
                </a:ln>
                <a:solidFill>
                  <a:srgbClr val="E8846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</a:t>
            </a:r>
            <a:r>
              <a:rPr lang="ko-KR" altLang="en-US" sz="6600" b="1" dirty="0">
                <a:ln>
                  <a:solidFill>
                    <a:srgbClr val="1D9BE6">
                      <a:alpha val="0"/>
                    </a:srgbClr>
                  </a:solidFill>
                </a:ln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 가구 </a:t>
            </a:r>
          </a:p>
        </p:txBody>
      </p:sp>
      <p:sp>
        <p:nvSpPr>
          <p:cNvPr id="11" name="TextBox 12">
            <a:extLst>
              <a:ext uri="{FF2B5EF4-FFF2-40B4-BE49-F238E27FC236}">
                <a16:creationId xmlns:a16="http://schemas.microsoft.com/office/drawing/2014/main" id="{8E249907-EE8B-4A17-A6D2-F01B62FECFDD}"/>
              </a:ext>
            </a:extLst>
          </p:cNvPr>
          <p:cNvSpPr txBox="1"/>
          <p:nvPr/>
        </p:nvSpPr>
        <p:spPr>
          <a:xfrm>
            <a:off x="3130550" y="6597108"/>
            <a:ext cx="17595850" cy="1377950"/>
          </a:xfrm>
          <a:prstGeom prst="rect">
            <a:avLst/>
          </a:prstGeom>
        </p:spPr>
        <p:txBody>
          <a:bodyPr lIns="0" tIns="45719" rIns="0" bIns="0" rtlCol="0" anchor="t"/>
          <a:lstStyle/>
          <a:p>
            <a:r>
              <a:rPr lang="ko-KR" altLang="en-US" sz="6600" b="1" dirty="0">
                <a:ln>
                  <a:solidFill>
                    <a:srgbClr val="1D9BE6">
                      <a:alpha val="0"/>
                    </a:srgbClr>
                  </a:solidFill>
                </a:ln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가구별</a:t>
            </a:r>
            <a:r>
              <a:rPr lang="ko-KR" altLang="en-US" sz="7200" b="1" dirty="0">
                <a:ln>
                  <a:solidFill>
                    <a:srgbClr val="1D9BE6">
                      <a:alpha val="0"/>
                    </a:srgbClr>
                  </a:solidFill>
                </a:ln>
                <a:solidFill>
                  <a:srgbClr val="E8846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7200" b="1" dirty="0">
                <a:ln>
                  <a:solidFill>
                    <a:srgbClr val="1D9BE6">
                      <a:alpha val="0"/>
                    </a:srgbClr>
                  </a:solidFill>
                </a:ln>
                <a:solidFill>
                  <a:srgbClr val="E8846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Main </a:t>
            </a:r>
            <a:r>
              <a:rPr lang="ko-KR" altLang="en-US" sz="6600" b="1" dirty="0">
                <a:ln>
                  <a:solidFill>
                    <a:srgbClr val="1D9BE6">
                      <a:alpha val="0"/>
                    </a:srgbClr>
                  </a:solidFill>
                </a:ln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DEDF6EC5-BC97-4AB8-84AA-6F3C678F82E8}"/>
              </a:ext>
            </a:extLst>
          </p:cNvPr>
          <p:cNvSpPr txBox="1"/>
          <p:nvPr/>
        </p:nvSpPr>
        <p:spPr>
          <a:xfrm>
            <a:off x="3305174" y="9443805"/>
            <a:ext cx="12696826" cy="1377950"/>
          </a:xfrm>
          <a:prstGeom prst="rect">
            <a:avLst/>
          </a:prstGeom>
        </p:spPr>
        <p:txBody>
          <a:bodyPr lIns="0" tIns="45719" rIns="0" bIns="0" rtlCol="0" anchor="t"/>
          <a:lstStyle/>
          <a:p>
            <a:r>
              <a:rPr lang="en-US" altLang="ko-KR" sz="8800" b="1" dirty="0">
                <a:ln>
                  <a:solidFill>
                    <a:srgbClr val="1D9BE6">
                      <a:alpha val="0"/>
                    </a:srgbClr>
                  </a:solidFill>
                </a:ln>
                <a:solidFill>
                  <a:srgbClr val="E8846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8000" b="1" dirty="0">
                <a:ln>
                  <a:solidFill>
                    <a:srgbClr val="1D9BE6">
                      <a:alpha val="0"/>
                    </a:srgbClr>
                  </a:solidFill>
                </a:ln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초당 </a:t>
            </a:r>
            <a:r>
              <a:rPr lang="en-US" altLang="ko-KR" sz="8000" b="1" dirty="0">
                <a:ln>
                  <a:solidFill>
                    <a:srgbClr val="1D9BE6">
                      <a:alpha val="0"/>
                    </a:srgbClr>
                  </a:solidFill>
                </a:ln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</a:t>
            </a:r>
            <a:r>
              <a:rPr lang="ko-KR" altLang="en-US" sz="8000" b="1" dirty="0">
                <a:ln>
                  <a:solidFill>
                    <a:srgbClr val="1D9BE6">
                      <a:alpha val="0"/>
                    </a:srgbClr>
                  </a:solidFill>
                </a:ln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개의 전력 데이터</a:t>
            </a:r>
          </a:p>
        </p:txBody>
      </p:sp>
      <p:pic>
        <p:nvPicPr>
          <p:cNvPr id="4100" name="Picture 4" descr="데이터 전송 아이콘 Detailed Flat Circular Flat | Magnific (구 Freepik)">
            <a:extLst>
              <a:ext uri="{FF2B5EF4-FFF2-40B4-BE49-F238E27FC236}">
                <a16:creationId xmlns:a16="http://schemas.microsoft.com/office/drawing/2014/main" id="{A24F0357-8199-48F2-9FAB-945C30616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20950" y="4161883"/>
            <a:ext cx="6248400" cy="624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6">
            <a:extLst>
              <a:ext uri="{FF2B5EF4-FFF2-40B4-BE49-F238E27FC236}">
                <a16:creationId xmlns:a16="http://schemas.microsoft.com/office/drawing/2014/main" id="{04B57ABD-CB33-4F7C-BD8D-E61EDE47209D}"/>
              </a:ext>
            </a:extLst>
          </p:cNvPr>
          <p:cNvSpPr txBox="1"/>
          <p:nvPr/>
        </p:nvSpPr>
        <p:spPr>
          <a:xfrm>
            <a:off x="1562100" y="1600200"/>
            <a:ext cx="3822700" cy="381000"/>
          </a:xfrm>
          <a:prstGeom prst="rect">
            <a:avLst/>
          </a:prstGeom>
        </p:spPr>
        <p:txBody>
          <a:bodyPr lIns="0" tIns="127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altLang="ko-KR" sz="1999" b="1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NILM-NALM</a:t>
            </a:r>
          </a:p>
        </p:txBody>
      </p:sp>
    </p:spTree>
    <p:extLst>
      <p:ext uri="{BB962C8B-B14F-4D97-AF65-F5344CB8AC3E}">
        <p14:creationId xmlns:p14="http://schemas.microsoft.com/office/powerpoint/2010/main" val="25210503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Word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78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" y="990600"/>
            <a:ext cx="22212300" cy="11925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12280900"/>
            <a:ext cx="23037800" cy="77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260600"/>
            <a:ext cx="21628100" cy="381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6314EE04-1E5B-467C-9AB4-93D5F224AD79}"/>
              </a:ext>
            </a:extLst>
          </p:cNvPr>
          <p:cNvSpPr txBox="1"/>
          <p:nvPr/>
        </p:nvSpPr>
        <p:spPr>
          <a:xfrm>
            <a:off x="1562100" y="1600200"/>
            <a:ext cx="3822700" cy="381000"/>
          </a:xfrm>
          <a:prstGeom prst="rect">
            <a:avLst/>
          </a:prstGeom>
        </p:spPr>
        <p:txBody>
          <a:bodyPr lIns="0" tIns="127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altLang="ko-KR" sz="1999" b="1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NILM-NALM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9A86BC0-23AB-448E-91E9-D264BD119C70}"/>
              </a:ext>
            </a:extLst>
          </p:cNvPr>
          <p:cNvSpPr/>
          <p:nvPr/>
        </p:nvSpPr>
        <p:spPr>
          <a:xfrm>
            <a:off x="8530621" y="9696450"/>
            <a:ext cx="1475862" cy="0"/>
          </a:xfrm>
          <a:prstGeom prst="line">
            <a:avLst/>
          </a:prstGeom>
          <a:noFill/>
          <a:ln w="20320">
            <a:solidFill>
              <a:srgbClr val="B5B5B5"/>
            </a:solidFill>
            <a:prstDash val="solid"/>
            <a:tailEnd type="triangle"/>
          </a:ln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63319967-73FC-4C7A-A723-617BB705342B}"/>
              </a:ext>
            </a:extLst>
          </p:cNvPr>
          <p:cNvSpPr/>
          <p:nvPr/>
        </p:nvSpPr>
        <p:spPr>
          <a:xfrm>
            <a:off x="8578759" y="6437137"/>
            <a:ext cx="1475862" cy="0"/>
          </a:xfrm>
          <a:prstGeom prst="line">
            <a:avLst/>
          </a:prstGeom>
          <a:noFill/>
          <a:ln w="20320">
            <a:solidFill>
              <a:srgbClr val="B5B5B5"/>
            </a:solidFill>
            <a:prstDash val="solid"/>
            <a:tailEnd type="triangle"/>
          </a:ln>
        </p:spPr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DD712E11-24F8-43A4-8953-C17E2B820018}"/>
              </a:ext>
            </a:extLst>
          </p:cNvPr>
          <p:cNvSpPr txBox="1"/>
          <p:nvPr/>
        </p:nvSpPr>
        <p:spPr>
          <a:xfrm>
            <a:off x="1463040" y="2637189"/>
            <a:ext cx="214518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0" dirty="0">
                <a:solidFill>
                  <a:srgbClr val="595959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Noto Sans KR" pitchFamily="34" charset="-120"/>
              </a:rPr>
              <a:t>Kafka </a:t>
            </a:r>
            <a:r>
              <a:rPr lang="ko-KR" altLang="en-US" sz="6500" dirty="0">
                <a:solidFill>
                  <a:srgbClr val="595959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Noto Sans KR" pitchFamily="34" charset="-120"/>
              </a:rPr>
              <a:t>리플레이</a:t>
            </a:r>
            <a:r>
              <a:rPr lang="en-US" altLang="ko-KR" sz="6500" dirty="0">
                <a:solidFill>
                  <a:srgbClr val="595959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Noto Sans KR" pitchFamily="34" charset="-120"/>
              </a:rPr>
              <a:t> </a:t>
            </a:r>
            <a:r>
              <a:rPr lang="ko-KR" altLang="en-US" sz="6500" dirty="0">
                <a:solidFill>
                  <a:srgbClr val="595959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Noto Sans KR" pitchFamily="34" charset="-120"/>
              </a:rPr>
              <a:t>시뮬레이터 구성</a:t>
            </a:r>
            <a:endParaRPr lang="en-US" altLang="ko-KR" sz="65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2CE31695-96BF-42AF-8420-8AB03232F7CC}"/>
              </a:ext>
            </a:extLst>
          </p:cNvPr>
          <p:cNvSpPr/>
          <p:nvPr/>
        </p:nvSpPr>
        <p:spPr>
          <a:xfrm>
            <a:off x="9854861" y="8767280"/>
            <a:ext cx="3738852" cy="1969852"/>
          </a:xfrm>
          <a:prstGeom prst="roundRect">
            <a:avLst>
              <a:gd name="adj" fmla="val 8235"/>
            </a:avLst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DFBD80CC-E76C-434E-855C-8329A46F1ADB}"/>
              </a:ext>
            </a:extLst>
          </p:cNvPr>
          <p:cNvSpPr txBox="1"/>
          <p:nvPr/>
        </p:nvSpPr>
        <p:spPr>
          <a:xfrm>
            <a:off x="9854861" y="8767280"/>
            <a:ext cx="3738852" cy="19698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/>
            <a:r>
              <a:rPr lang="en-US" altLang="ko-KR" sz="24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Kafka</a:t>
            </a:r>
            <a:r>
              <a:rPr lang="ko-KR" altLang="en-US" sz="24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쏘는 부분</a:t>
            </a:r>
            <a:endParaRPr lang="en-US" sz="240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47BEC778-214E-40AD-A9AF-0FD711FFFACB}"/>
              </a:ext>
            </a:extLst>
          </p:cNvPr>
          <p:cNvSpPr/>
          <p:nvPr/>
        </p:nvSpPr>
        <p:spPr>
          <a:xfrm flipV="1">
            <a:off x="13617584" y="5409565"/>
            <a:ext cx="1771036" cy="562853"/>
          </a:xfrm>
          <a:prstGeom prst="line">
            <a:avLst/>
          </a:prstGeom>
          <a:noFill/>
          <a:ln w="20320">
            <a:solidFill>
              <a:srgbClr val="B5B5B5"/>
            </a:solidFill>
            <a:prstDash val="solid"/>
            <a:tailEnd type="triangle"/>
          </a:ln>
        </p:spPr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A59D9485-33BD-4394-93C7-80FA419A538C}"/>
              </a:ext>
            </a:extLst>
          </p:cNvPr>
          <p:cNvSpPr/>
          <p:nvPr/>
        </p:nvSpPr>
        <p:spPr>
          <a:xfrm>
            <a:off x="13617584" y="6945756"/>
            <a:ext cx="1771036" cy="741592"/>
          </a:xfrm>
          <a:prstGeom prst="line">
            <a:avLst/>
          </a:prstGeom>
          <a:noFill/>
          <a:ln w="20320">
            <a:solidFill>
              <a:srgbClr val="B5B5B5"/>
            </a:solidFill>
            <a:prstDash val="solid"/>
            <a:tailEnd type="triangle"/>
          </a:ln>
        </p:spPr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BB98F5A4-B2EA-45C5-84A5-BF7509F0B828}"/>
              </a:ext>
            </a:extLst>
          </p:cNvPr>
          <p:cNvSpPr/>
          <p:nvPr/>
        </p:nvSpPr>
        <p:spPr>
          <a:xfrm>
            <a:off x="15388621" y="4628284"/>
            <a:ext cx="4624370" cy="1738104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8F15C801-F017-40A3-8179-14BDF9400B8B}"/>
              </a:ext>
            </a:extLst>
          </p:cNvPr>
          <p:cNvSpPr txBox="1"/>
          <p:nvPr/>
        </p:nvSpPr>
        <p:spPr>
          <a:xfrm>
            <a:off x="15388621" y="4628284"/>
            <a:ext cx="4624370" cy="17381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/>
            <a:r>
              <a:rPr lang="ko-KR" altLang="en-US" sz="24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합성모드</a:t>
            </a:r>
            <a:endParaRPr lang="en-US" altLang="ko-KR" sz="2400" b="1" dirty="0">
              <a:solidFill>
                <a:srgbClr val="595959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algn="ctr"/>
            <a:r>
              <a:rPr lang="ko-KR" altLang="en-US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가구마다 미니 시뮬레이션</a:t>
            </a:r>
            <a:r>
              <a:rPr lang="en-US" altLang="ko-KR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ko-KR" altLang="en-US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상태모델</a:t>
            </a:r>
            <a:r>
              <a:rPr lang="en-US" altLang="ko-KR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2400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3590D33E-C71D-4E63-A349-54E828E05A86}"/>
              </a:ext>
            </a:extLst>
          </p:cNvPr>
          <p:cNvSpPr/>
          <p:nvPr/>
        </p:nvSpPr>
        <p:spPr>
          <a:xfrm>
            <a:off x="15388621" y="6953250"/>
            <a:ext cx="4624370" cy="1738104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86E1D87C-ED66-49D4-9011-610D2527D42B}"/>
              </a:ext>
            </a:extLst>
          </p:cNvPr>
          <p:cNvSpPr txBox="1"/>
          <p:nvPr/>
        </p:nvSpPr>
        <p:spPr>
          <a:xfrm>
            <a:off x="15388621" y="6953250"/>
            <a:ext cx="4624370" cy="17381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/>
            <a:r>
              <a:rPr lang="en-US" sz="24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CSV </a:t>
            </a:r>
            <a:r>
              <a:rPr lang="ko-KR" altLang="en-US" sz="24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리플레이 모드</a:t>
            </a:r>
            <a:endParaRPr lang="en-US" sz="2400" dirty="0"/>
          </a:p>
          <a:p>
            <a:pPr algn="ctr"/>
            <a:r>
              <a:rPr lang="ko-KR" altLang="en-US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원본 시간 간격으로 </a:t>
            </a:r>
            <a:r>
              <a:rPr lang="en-US" altLang="ko-KR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Kafka</a:t>
            </a:r>
            <a:r>
              <a:rPr lang="ko-KR" altLang="en-US" dirty="0">
                <a:solidFill>
                  <a:srgbClr val="9A9A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발행</a:t>
            </a:r>
            <a:endParaRPr lang="en-US" sz="2400" dirty="0"/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A9D8E0D6-6F3F-427A-853B-D0BF7FA745FF}"/>
              </a:ext>
            </a:extLst>
          </p:cNvPr>
          <p:cNvSpPr/>
          <p:nvPr/>
        </p:nvSpPr>
        <p:spPr>
          <a:xfrm>
            <a:off x="9854861" y="5515689"/>
            <a:ext cx="3738852" cy="1969852"/>
          </a:xfrm>
          <a:prstGeom prst="roundRect">
            <a:avLst>
              <a:gd name="adj" fmla="val 8235"/>
            </a:avLst>
          </a:prstGeom>
          <a:solidFill>
            <a:srgbClr val="FBEEEA"/>
          </a:solidFill>
          <a:ln w="12700">
            <a:solidFill>
              <a:srgbClr val="E8846B"/>
            </a:solidFill>
            <a:prstDash val="solid"/>
          </a:ln>
        </p:spPr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66F3ED1F-3DFC-47BD-9574-A32C4254F733}"/>
              </a:ext>
            </a:extLst>
          </p:cNvPr>
          <p:cNvSpPr txBox="1"/>
          <p:nvPr/>
        </p:nvSpPr>
        <p:spPr>
          <a:xfrm>
            <a:off x="9854861" y="5515689"/>
            <a:ext cx="3738852" cy="19698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/>
            <a:r>
              <a:rPr lang="ko-KR" altLang="en-US" sz="2400" b="1" dirty="0">
                <a:solidFill>
                  <a:srgbClr val="E884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데이터를 만들어내는 부분</a:t>
            </a:r>
            <a:endParaRPr lang="en-US" sz="2400" dirty="0"/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7C7CC580-46EF-4F36-90DB-4286A05D6D0A}"/>
              </a:ext>
            </a:extLst>
          </p:cNvPr>
          <p:cNvSpPr/>
          <p:nvPr/>
        </p:nvSpPr>
        <p:spPr>
          <a:xfrm flipH="1">
            <a:off x="8566643" y="6443955"/>
            <a:ext cx="1" cy="3214096"/>
          </a:xfrm>
          <a:prstGeom prst="line">
            <a:avLst/>
          </a:prstGeom>
          <a:noFill/>
          <a:ln w="20320">
            <a:solidFill>
              <a:srgbClr val="B5B5B5"/>
            </a:solidFill>
            <a:prstDash val="solid"/>
            <a:tailEnd type="none"/>
          </a:ln>
        </p:spPr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2EF612A2-ABB6-422D-B70C-DBCA0DC1407D}"/>
              </a:ext>
            </a:extLst>
          </p:cNvPr>
          <p:cNvSpPr txBox="1"/>
          <p:nvPr/>
        </p:nvSpPr>
        <p:spPr>
          <a:xfrm>
            <a:off x="4079060" y="7650119"/>
            <a:ext cx="430293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Kafka </a:t>
            </a:r>
            <a:r>
              <a:rPr lang="ko-KR" altLang="en-US" sz="44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리플레이</a:t>
            </a:r>
            <a:endParaRPr lang="en-US" altLang="ko-KR" sz="4400" b="1" dirty="0">
              <a:solidFill>
                <a:srgbClr val="595959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algn="ctr"/>
            <a:r>
              <a:rPr lang="ko-KR" altLang="en-US" sz="44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시뮬레이터</a:t>
            </a:r>
            <a:endParaRPr lang="en-US" sz="4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" y="990600"/>
            <a:ext cx="22212300" cy="11925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12280900"/>
            <a:ext cx="23037800" cy="77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260600"/>
            <a:ext cx="21628100" cy="38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639300" y="8305800"/>
            <a:ext cx="5105400" cy="38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9200" y="4940300"/>
            <a:ext cx="6756400" cy="67691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4343400" y="8331200"/>
            <a:ext cx="55753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66" b="0" i="0" u="none" strike="noStrike" dirty="0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MQTT </a:t>
            </a:r>
            <a:r>
              <a:rPr lang="ko-KR" altLang="en-US" sz="3066" b="0" i="0" u="none" strike="noStrike" dirty="0">
                <a:solidFill>
                  <a:srgbClr val="595959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retendard Bold"/>
              </a:rPr>
              <a:t>시뮬레이터</a:t>
            </a:r>
            <a:endParaRPr lang="en-US" sz="3066" b="0" i="0" u="none" strike="noStrike" dirty="0">
              <a:solidFill>
                <a:srgbClr val="595959"/>
              </a:solidFill>
              <a:latin typeface="Noto Sans KR Black" panose="020B0200000000000000" pitchFamily="50" charset="-127"/>
              <a:ea typeface="Noto Sans KR Black" panose="020B0200000000000000" pitchFamily="50" charset="-127"/>
              <a:cs typeface="Pretendard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911600" y="9207500"/>
            <a:ext cx="6438900" cy="1435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400" b="0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· </a:t>
            </a:r>
            <a:r>
              <a:rPr lang="ko-KR" altLang="en-US" sz="2400" dirty="0" err="1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센서→브로커→브릿지</a:t>
            </a:r>
            <a:r>
              <a:rPr lang="ko-KR" altLang="en-US" sz="2400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→</a:t>
            </a:r>
            <a:r>
              <a:rPr lang="en-US" altLang="ko-KR" sz="2400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Kafka </a:t>
            </a:r>
            <a:r>
              <a:rPr lang="ko-KR" altLang="en-US" sz="2400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라는 </a:t>
            </a:r>
            <a:r>
              <a:rPr lang="ko-KR" altLang="en-US" sz="2400" dirty="0">
                <a:solidFill>
                  <a:srgbClr val="595959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통로 자체</a:t>
            </a:r>
            <a:endParaRPr lang="en-US" sz="2400" i="0" u="none" strike="noStrike" dirty="0">
              <a:solidFill>
                <a:srgbClr val="595959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 Regular"/>
            </a:endParaRPr>
          </a:p>
          <a:p>
            <a:pPr lvl="0" algn="ctr">
              <a:lnSpc>
                <a:spcPct val="132800"/>
              </a:lnSpc>
            </a:pPr>
            <a:r>
              <a:rPr lang="en-US" sz="24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·  </a:t>
            </a:r>
            <a:r>
              <a:rPr lang="ko-KR" altLang="en-US" sz="2400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인증</a:t>
            </a:r>
            <a:r>
              <a:rPr lang="en-US" altLang="ko-KR" sz="2400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QoS 1</a:t>
            </a:r>
            <a:r>
              <a:rPr lang="ko-KR" altLang="en-US" sz="2400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 유실</a:t>
            </a:r>
            <a:r>
              <a:rPr lang="en-US" altLang="ko-KR" sz="2400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dirty="0" err="1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브릿지</a:t>
            </a:r>
            <a:r>
              <a:rPr lang="ko-KR" altLang="en-US" sz="2400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검증 목적</a:t>
            </a:r>
            <a:endParaRPr lang="en-US" altLang="ko-KR" sz="2400" dirty="0">
              <a:solidFill>
                <a:srgbClr val="595959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 algn="ctr">
              <a:lnSpc>
                <a:spcPct val="132800"/>
              </a:lnSpc>
            </a:pPr>
            <a:r>
              <a:rPr lang="en-US" sz="24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·  </a:t>
            </a:r>
            <a:r>
              <a:rPr lang="en-US" altLang="ko-KR" sz="2400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ESP32 </a:t>
            </a:r>
            <a:r>
              <a:rPr lang="ko-KR" altLang="en-US" sz="2400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실물 센서의 </a:t>
            </a:r>
            <a:r>
              <a:rPr lang="ko-KR" altLang="en-US" sz="2400" dirty="0">
                <a:solidFill>
                  <a:srgbClr val="595959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대역</a:t>
            </a:r>
            <a:endParaRPr lang="en-US" sz="2400" i="0" u="none" strike="noStrike" dirty="0">
              <a:solidFill>
                <a:srgbClr val="595959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 Regular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68400" y="4940300"/>
            <a:ext cx="6756400" cy="67691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4465300" y="8331200"/>
            <a:ext cx="55753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Kafka </a:t>
            </a:r>
            <a:r>
              <a:rPr lang="ko-KR" altLang="en-US" sz="30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리플레이</a:t>
            </a:r>
            <a:endParaRPr lang="en-US" sz="3066" b="0" i="0" u="none" strike="noStrike" dirty="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4173200" y="9207500"/>
            <a:ext cx="6159500" cy="156412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400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· </a:t>
            </a:r>
            <a:r>
              <a:rPr lang="ko-KR" altLang="en-US" sz="24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파이프라인 </a:t>
            </a:r>
            <a:r>
              <a:rPr lang="ko-KR" altLang="en-US" sz="2400" dirty="0">
                <a:solidFill>
                  <a:srgbClr val="FFFFF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위에서 돌아갈 알고리즘</a:t>
            </a:r>
            <a:endParaRPr lang="en-US" altLang="ko-KR" sz="2400" dirty="0">
              <a:solidFill>
                <a:srgbClr val="FFFFFF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 algn="ctr">
              <a:lnSpc>
                <a:spcPct val="132800"/>
              </a:lnSpc>
            </a:pPr>
            <a:r>
              <a:rPr lang="en-US" sz="2400" b="0" i="0" u="none" strike="noStrike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·  </a:t>
            </a:r>
            <a:r>
              <a:rPr lang="ko-KR" altLang="en-US" sz="24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계단 감지</a:t>
            </a:r>
            <a:r>
              <a:rPr lang="en-US" altLang="ko-KR" sz="24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실데이터로 전환 검증 목적</a:t>
            </a:r>
            <a:endParaRPr lang="en-US" altLang="ko-KR" sz="240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 algn="ctr">
              <a:lnSpc>
                <a:spcPct val="132800"/>
              </a:lnSpc>
            </a:pPr>
            <a:r>
              <a:rPr lang="en-US" sz="2400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·  </a:t>
            </a:r>
            <a:r>
              <a:rPr lang="ko-KR" altLang="en-US" sz="2400" dirty="0">
                <a:solidFill>
                  <a:srgbClr val="FFFFF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처리 구간 독립적</a:t>
            </a:r>
            <a:r>
              <a:rPr lang="ko-KR" altLang="en-US" sz="24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테스트</a:t>
            </a:r>
            <a:endParaRPr lang="en-US" sz="2400" i="0" u="none" strike="noStrike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 Regular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562100" y="1600200"/>
            <a:ext cx="3822700" cy="381000"/>
          </a:xfrm>
          <a:prstGeom prst="rect">
            <a:avLst/>
          </a:prstGeom>
        </p:spPr>
        <p:txBody>
          <a:bodyPr lIns="0" tIns="127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altLang="ko-KR" sz="1999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NILM-NALM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045200" y="3378200"/>
            <a:ext cx="12306300" cy="1308100"/>
          </a:xfrm>
          <a:prstGeom prst="rect">
            <a:avLst/>
          </a:prstGeom>
        </p:spPr>
        <p:txBody>
          <a:bodyPr lIns="0" tIns="45719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6500" b="0" i="0" u="none" strike="noStrike" dirty="0">
                <a:solidFill>
                  <a:srgbClr val="595959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SB AggroOTF Medium"/>
              </a:rPr>
              <a:t>2</a:t>
            </a:r>
            <a:r>
              <a:rPr lang="ko-KR" altLang="en-US" sz="6500" b="0" i="0" u="none" strike="noStrike" dirty="0">
                <a:solidFill>
                  <a:srgbClr val="595959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SB AggroOTF Medium"/>
              </a:rPr>
              <a:t>가지의 시뮬레이터</a:t>
            </a:r>
            <a:endParaRPr lang="en-US" sz="6500" b="0" i="0" u="none" strike="noStrike" dirty="0">
              <a:solidFill>
                <a:srgbClr val="787878"/>
              </a:solidFill>
              <a:latin typeface="Noto Sans KR Black" panose="020B0200000000000000" pitchFamily="50" charset="-127"/>
              <a:ea typeface="Noto Sans KR Black" panose="020B0200000000000000" pitchFamily="50" charset="-127"/>
              <a:cs typeface="SB AggroOTF Medium"/>
            </a:endParaRPr>
          </a:p>
        </p:txBody>
      </p:sp>
      <p:pic>
        <p:nvPicPr>
          <p:cNvPr id="18" name="Picture 22" descr="Introduction to MQTT: The protocol for IoT &amp; buildings">
            <a:extLst>
              <a:ext uri="{FF2B5EF4-FFF2-40B4-BE49-F238E27FC236}">
                <a16:creationId xmlns:a16="http://schemas.microsoft.com/office/drawing/2014/main" id="{C82422A1-CAEF-47E9-AE06-ADACB24ADA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6089650"/>
            <a:ext cx="2381250" cy="2040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아파치 카프카 수직 로고 아이콘">
            <a:extLst>
              <a:ext uri="{FF2B5EF4-FFF2-40B4-BE49-F238E27FC236}">
                <a16:creationId xmlns:a16="http://schemas.microsoft.com/office/drawing/2014/main" id="{0FE5D62B-CE45-4B3C-B569-72A5A7E6B9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61710" y="6044331"/>
            <a:ext cx="1995366" cy="20856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403784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78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" y="990600"/>
            <a:ext cx="22212300" cy="11925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" y="12280900"/>
            <a:ext cx="23037800" cy="77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2260600"/>
            <a:ext cx="21628100" cy="381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6314EE04-1E5B-467C-9AB4-93D5F224AD79}"/>
              </a:ext>
            </a:extLst>
          </p:cNvPr>
          <p:cNvSpPr txBox="1"/>
          <p:nvPr/>
        </p:nvSpPr>
        <p:spPr>
          <a:xfrm>
            <a:off x="1562100" y="1600200"/>
            <a:ext cx="3822700" cy="381000"/>
          </a:xfrm>
          <a:prstGeom prst="rect">
            <a:avLst/>
          </a:prstGeom>
        </p:spPr>
        <p:txBody>
          <a:bodyPr lIns="0" tIns="127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altLang="ko-KR" sz="1999" b="1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NILM-NALM</a:t>
            </a:r>
          </a:p>
        </p:txBody>
      </p:sp>
      <p:pic>
        <p:nvPicPr>
          <p:cNvPr id="24" name="Picture 9">
            <a:extLst>
              <a:ext uri="{FF2B5EF4-FFF2-40B4-BE49-F238E27FC236}">
                <a16:creationId xmlns:a16="http://schemas.microsoft.com/office/drawing/2014/main" id="{0A9449C4-AC46-499A-B832-CE3D164D7C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2100" y="5194300"/>
            <a:ext cx="3835400" cy="5994400"/>
          </a:xfrm>
          <a:prstGeom prst="rect">
            <a:avLst/>
          </a:prstGeom>
        </p:spPr>
      </p:pic>
      <p:pic>
        <p:nvPicPr>
          <p:cNvPr id="26" name="Picture 11">
            <a:extLst>
              <a:ext uri="{FF2B5EF4-FFF2-40B4-BE49-F238E27FC236}">
                <a16:creationId xmlns:a16="http://schemas.microsoft.com/office/drawing/2014/main" id="{7DD36756-D667-4B85-AB31-AA0511249E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6900" y="7556500"/>
            <a:ext cx="3213100" cy="38100"/>
          </a:xfrm>
          <a:prstGeom prst="rect">
            <a:avLst/>
          </a:prstGeom>
        </p:spPr>
      </p:pic>
      <p:sp>
        <p:nvSpPr>
          <p:cNvPr id="27" name="TextBox 12">
            <a:extLst>
              <a:ext uri="{FF2B5EF4-FFF2-40B4-BE49-F238E27FC236}">
                <a16:creationId xmlns:a16="http://schemas.microsoft.com/office/drawing/2014/main" id="{718F04D6-A9B1-4EFA-AA8B-AA7AE39E55DE}"/>
              </a:ext>
            </a:extLst>
          </p:cNvPr>
          <p:cNvSpPr txBox="1"/>
          <p:nvPr/>
        </p:nvSpPr>
        <p:spPr>
          <a:xfrm>
            <a:off x="4940300" y="5765800"/>
            <a:ext cx="2159000" cy="431800"/>
          </a:xfrm>
          <a:prstGeom prst="rect">
            <a:avLst/>
          </a:prstGeom>
        </p:spPr>
        <p:txBody>
          <a:bodyPr lIns="0" tIns="28786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266" b="0" i="0" u="none" strike="noStrike" dirty="0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Bronze</a:t>
            </a:r>
          </a:p>
        </p:txBody>
      </p:sp>
      <p:sp>
        <p:nvSpPr>
          <p:cNvPr id="28" name="TextBox 13">
            <a:extLst>
              <a:ext uri="{FF2B5EF4-FFF2-40B4-BE49-F238E27FC236}">
                <a16:creationId xmlns:a16="http://schemas.microsoft.com/office/drawing/2014/main" id="{E0EC90D5-9323-49AD-A549-6946A0CED62B}"/>
              </a:ext>
            </a:extLst>
          </p:cNvPr>
          <p:cNvSpPr txBox="1"/>
          <p:nvPr/>
        </p:nvSpPr>
        <p:spPr>
          <a:xfrm>
            <a:off x="4597400" y="6794500"/>
            <a:ext cx="2832100" cy="571500"/>
          </a:xfrm>
          <a:prstGeom prst="rect">
            <a:avLst/>
          </a:prstGeom>
        </p:spPr>
        <p:txBody>
          <a:bodyPr lIns="0" tIns="38946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3066" b="1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Bold"/>
              </a:rPr>
              <a:t>원천 데이터</a:t>
            </a:r>
            <a:endParaRPr lang="en-US" sz="3066" b="1" i="0" u="none" strike="noStrike" dirty="0">
              <a:solidFill>
                <a:srgbClr val="595959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 Bold"/>
            </a:endParaRPr>
          </a:p>
        </p:txBody>
      </p:sp>
      <p:sp>
        <p:nvSpPr>
          <p:cNvPr id="29" name="TextBox 14">
            <a:extLst>
              <a:ext uri="{FF2B5EF4-FFF2-40B4-BE49-F238E27FC236}">
                <a16:creationId xmlns:a16="http://schemas.microsoft.com/office/drawing/2014/main" id="{BE0E337D-A96F-4F48-9118-853B25C405CB}"/>
              </a:ext>
            </a:extLst>
          </p:cNvPr>
          <p:cNvSpPr txBox="1"/>
          <p:nvPr/>
        </p:nvSpPr>
        <p:spPr>
          <a:xfrm>
            <a:off x="4330700" y="7861300"/>
            <a:ext cx="3365500" cy="182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50000"/>
              </a:lnSpc>
            </a:pPr>
            <a:r>
              <a:rPr lang="ko-KR" altLang="en-US" sz="2500" b="0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로컬 </a:t>
            </a:r>
            <a:r>
              <a:rPr lang="en-US" altLang="ko-KR" sz="2500" b="0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HDD</a:t>
            </a:r>
            <a:r>
              <a:rPr lang="ko-KR" altLang="en-US" sz="2500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에 저장된</a:t>
            </a:r>
            <a:endParaRPr lang="en-US" altLang="ko-KR" sz="2500" dirty="0">
              <a:solidFill>
                <a:srgbClr val="595959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 Regular"/>
            </a:endParaRPr>
          </a:p>
          <a:p>
            <a:pPr lvl="0" algn="ctr">
              <a:lnSpc>
                <a:spcPct val="150000"/>
              </a:lnSpc>
            </a:pPr>
            <a:r>
              <a:rPr lang="en-US" sz="2500" b="0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520GB </a:t>
            </a:r>
            <a:r>
              <a:rPr lang="ko-KR" altLang="en-US" sz="2500" b="0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가구</a:t>
            </a:r>
            <a:r>
              <a:rPr lang="en-US" altLang="ko-KR" sz="2500" b="0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, </a:t>
            </a:r>
            <a:r>
              <a:rPr lang="ko-KR" altLang="en-US" sz="2500" b="0" i="0" u="none" strike="noStrike" dirty="0" err="1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가전별</a:t>
            </a:r>
            <a:endParaRPr lang="en-US" altLang="ko-KR" sz="2500" dirty="0">
              <a:solidFill>
                <a:srgbClr val="595959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 Regular"/>
            </a:endParaRPr>
          </a:p>
          <a:p>
            <a:pPr lvl="0" algn="ctr">
              <a:lnSpc>
                <a:spcPct val="150000"/>
              </a:lnSpc>
            </a:pPr>
            <a:r>
              <a:rPr lang="ko-KR" altLang="en-US" sz="2500" b="0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전력 사용 정보 데이터</a:t>
            </a:r>
            <a:endParaRPr lang="en-US" sz="2500" b="0" i="0" u="none" strike="noStrike" dirty="0">
              <a:solidFill>
                <a:srgbClr val="595959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 Regular"/>
            </a:endParaRPr>
          </a:p>
        </p:txBody>
      </p:sp>
      <p:pic>
        <p:nvPicPr>
          <p:cNvPr id="30" name="Picture 21">
            <a:extLst>
              <a:ext uri="{FF2B5EF4-FFF2-40B4-BE49-F238E27FC236}">
                <a16:creationId xmlns:a16="http://schemas.microsoft.com/office/drawing/2014/main" id="{8886E306-22D8-471E-977E-904316BC188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74300" y="5194300"/>
            <a:ext cx="3835400" cy="5994400"/>
          </a:xfrm>
          <a:prstGeom prst="rect">
            <a:avLst/>
          </a:prstGeom>
        </p:spPr>
      </p:pic>
      <p:pic>
        <p:nvPicPr>
          <p:cNvPr id="32" name="Picture 23">
            <a:extLst>
              <a:ext uri="{FF2B5EF4-FFF2-40B4-BE49-F238E27FC236}">
                <a16:creationId xmlns:a16="http://schemas.microsoft.com/office/drawing/2014/main" id="{973ABF80-9D2F-4066-8F80-EB06F8100B7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91800" y="7556500"/>
            <a:ext cx="3200400" cy="38100"/>
          </a:xfrm>
          <a:prstGeom prst="rect">
            <a:avLst/>
          </a:prstGeom>
        </p:spPr>
      </p:pic>
      <p:sp>
        <p:nvSpPr>
          <p:cNvPr id="33" name="TextBox 24">
            <a:extLst>
              <a:ext uri="{FF2B5EF4-FFF2-40B4-BE49-F238E27FC236}">
                <a16:creationId xmlns:a16="http://schemas.microsoft.com/office/drawing/2014/main" id="{1CE797ED-C3ED-4AE5-94D4-8586752E7B11}"/>
              </a:ext>
            </a:extLst>
          </p:cNvPr>
          <p:cNvSpPr txBox="1"/>
          <p:nvPr/>
        </p:nvSpPr>
        <p:spPr>
          <a:xfrm>
            <a:off x="11112500" y="5765800"/>
            <a:ext cx="2159000" cy="431800"/>
          </a:xfrm>
          <a:prstGeom prst="rect">
            <a:avLst/>
          </a:prstGeom>
        </p:spPr>
        <p:txBody>
          <a:bodyPr lIns="0" tIns="28786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266" dirty="0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Silver</a:t>
            </a:r>
            <a:endParaRPr lang="en-US" sz="2266" b="0" i="0" u="none" strike="noStrike" dirty="0">
              <a:solidFill>
                <a:srgbClr val="787878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34" name="TextBox 25">
            <a:extLst>
              <a:ext uri="{FF2B5EF4-FFF2-40B4-BE49-F238E27FC236}">
                <a16:creationId xmlns:a16="http://schemas.microsoft.com/office/drawing/2014/main" id="{650E9D8B-C723-462D-BC5D-7960B3FF6C3B}"/>
              </a:ext>
            </a:extLst>
          </p:cNvPr>
          <p:cNvSpPr txBox="1"/>
          <p:nvPr/>
        </p:nvSpPr>
        <p:spPr>
          <a:xfrm>
            <a:off x="10769600" y="6794500"/>
            <a:ext cx="2832100" cy="571500"/>
          </a:xfrm>
          <a:prstGeom prst="rect">
            <a:avLst/>
          </a:prstGeom>
        </p:spPr>
        <p:txBody>
          <a:bodyPr lIns="0" tIns="38946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3066" b="1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Bold"/>
              </a:rPr>
              <a:t>정제 </a:t>
            </a:r>
            <a:r>
              <a:rPr lang="en-US" altLang="ko-KR" sz="3066" b="1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Bold"/>
              </a:rPr>
              <a:t>·</a:t>
            </a:r>
            <a:r>
              <a:rPr lang="ko-KR" altLang="en-US" sz="3066" b="1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Bold"/>
              </a:rPr>
              <a:t> 표준화</a:t>
            </a:r>
            <a:endParaRPr lang="en-US" sz="3066" b="1" i="0" u="none" strike="noStrike" dirty="0">
              <a:solidFill>
                <a:srgbClr val="595959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 Bold"/>
            </a:endParaRPr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EAA08FC8-04EB-4FF0-A686-BA040A8E9C32}"/>
              </a:ext>
            </a:extLst>
          </p:cNvPr>
          <p:cNvSpPr txBox="1"/>
          <p:nvPr/>
        </p:nvSpPr>
        <p:spPr>
          <a:xfrm>
            <a:off x="10502900" y="7861300"/>
            <a:ext cx="3365500" cy="219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50000"/>
              </a:lnSpc>
            </a:pPr>
            <a:r>
              <a:rPr lang="en-US" sz="2500" b="0" i="0" u="none" strike="noStrike" dirty="0" err="1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PyArrow</a:t>
            </a:r>
            <a:r>
              <a:rPr lang="ko-KR" altLang="en-US" sz="2500" b="0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로 필요 컬럼 선택</a:t>
            </a:r>
            <a:r>
              <a:rPr lang="en-US" altLang="ko-KR" sz="2500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 </a:t>
            </a:r>
            <a:r>
              <a:rPr lang="ko-KR" altLang="en-US" sz="2500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후</a:t>
            </a:r>
            <a:endParaRPr lang="en-US" altLang="ko-KR" sz="2500" dirty="0">
              <a:solidFill>
                <a:srgbClr val="595959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 Regular"/>
            </a:endParaRPr>
          </a:p>
          <a:p>
            <a:pPr lvl="0" algn="ctr">
              <a:lnSpc>
                <a:spcPct val="150000"/>
              </a:lnSpc>
            </a:pPr>
            <a:r>
              <a:rPr lang="ko-KR" altLang="en-US" sz="2500" b="0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가구</a:t>
            </a:r>
            <a:r>
              <a:rPr lang="en-US" altLang="ko-KR" sz="2500" b="0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/</a:t>
            </a:r>
            <a:r>
              <a:rPr lang="ko-KR" altLang="en-US" sz="2500" b="0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가전</a:t>
            </a:r>
            <a:r>
              <a:rPr lang="en-US" altLang="ko-KR" sz="2500" b="0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/</a:t>
            </a:r>
            <a:r>
              <a:rPr lang="ko-KR" altLang="en-US" sz="2500" b="0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월 단위로 묶어</a:t>
            </a:r>
            <a:endParaRPr lang="en-US" altLang="ko-KR" sz="2500" b="0" i="0" u="none" strike="noStrike" dirty="0">
              <a:solidFill>
                <a:srgbClr val="595959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 Regular"/>
            </a:endParaRPr>
          </a:p>
          <a:p>
            <a:pPr lvl="0" algn="ctr">
              <a:lnSpc>
                <a:spcPct val="150000"/>
              </a:lnSpc>
            </a:pPr>
            <a:r>
              <a:rPr lang="en-US" altLang="ko-KR" sz="2500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HDFS</a:t>
            </a:r>
            <a:r>
              <a:rPr lang="ko-KR" altLang="en-US" sz="2500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 저장</a:t>
            </a:r>
            <a:endParaRPr lang="en-US" sz="2500" b="0" i="0" u="none" strike="noStrike" dirty="0">
              <a:solidFill>
                <a:srgbClr val="595959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 Regular"/>
            </a:endParaRPr>
          </a:p>
        </p:txBody>
      </p:sp>
      <p:pic>
        <p:nvPicPr>
          <p:cNvPr id="36" name="Picture 33">
            <a:extLst>
              <a:ext uri="{FF2B5EF4-FFF2-40B4-BE49-F238E27FC236}">
                <a16:creationId xmlns:a16="http://schemas.microsoft.com/office/drawing/2014/main" id="{8108665C-E0E8-4F45-B95B-ABF43AB20BD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433800" y="5194300"/>
            <a:ext cx="3835400" cy="5994400"/>
          </a:xfrm>
          <a:prstGeom prst="rect">
            <a:avLst/>
          </a:prstGeom>
        </p:spPr>
      </p:pic>
      <p:pic>
        <p:nvPicPr>
          <p:cNvPr id="37" name="Picture 34">
            <a:extLst>
              <a:ext uri="{FF2B5EF4-FFF2-40B4-BE49-F238E27FC236}">
                <a16:creationId xmlns:a16="http://schemas.microsoft.com/office/drawing/2014/main" id="{DC804C93-2804-4A2A-8EA8-EB0E44450B9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751300" y="7556500"/>
            <a:ext cx="3200400" cy="38100"/>
          </a:xfrm>
          <a:prstGeom prst="rect">
            <a:avLst/>
          </a:prstGeom>
        </p:spPr>
      </p:pic>
      <p:sp>
        <p:nvSpPr>
          <p:cNvPr id="38" name="TextBox 35">
            <a:extLst>
              <a:ext uri="{FF2B5EF4-FFF2-40B4-BE49-F238E27FC236}">
                <a16:creationId xmlns:a16="http://schemas.microsoft.com/office/drawing/2014/main" id="{89A633CE-A7A6-410B-9332-E93B7D69DB3D}"/>
              </a:ext>
            </a:extLst>
          </p:cNvPr>
          <p:cNvSpPr txBox="1"/>
          <p:nvPr/>
        </p:nvSpPr>
        <p:spPr>
          <a:xfrm>
            <a:off x="17272000" y="5791200"/>
            <a:ext cx="2159000" cy="431800"/>
          </a:xfrm>
          <a:prstGeom prst="rect">
            <a:avLst/>
          </a:prstGeom>
        </p:spPr>
        <p:txBody>
          <a:bodyPr lIns="0" tIns="28786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266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Gold</a:t>
            </a:r>
          </a:p>
        </p:txBody>
      </p:sp>
      <p:sp>
        <p:nvSpPr>
          <p:cNvPr id="39" name="TextBox 36">
            <a:extLst>
              <a:ext uri="{FF2B5EF4-FFF2-40B4-BE49-F238E27FC236}">
                <a16:creationId xmlns:a16="http://schemas.microsoft.com/office/drawing/2014/main" id="{3D5EEE77-4B90-46A7-9C05-C79BD1282623}"/>
              </a:ext>
            </a:extLst>
          </p:cNvPr>
          <p:cNvSpPr txBox="1"/>
          <p:nvPr/>
        </p:nvSpPr>
        <p:spPr>
          <a:xfrm>
            <a:off x="16941800" y="6819900"/>
            <a:ext cx="2832100" cy="571500"/>
          </a:xfrm>
          <a:prstGeom prst="rect">
            <a:avLst/>
          </a:prstGeom>
        </p:spPr>
        <p:txBody>
          <a:bodyPr lIns="0" tIns="38946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3066" b="1" i="0" u="none" strike="noStrike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Bold"/>
              </a:rPr>
              <a:t>분석 </a:t>
            </a:r>
            <a:r>
              <a:rPr lang="en-US" altLang="ko-KR" sz="3066" b="1" i="0" u="none" strike="noStrike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Bold"/>
              </a:rPr>
              <a:t>· </a:t>
            </a:r>
            <a:r>
              <a:rPr lang="ko-KR" altLang="en-US" sz="3066" b="1" i="0" u="none" strike="noStrike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Bold"/>
              </a:rPr>
              <a:t>활용</a:t>
            </a:r>
            <a:endParaRPr lang="en-US" sz="3066" b="1" i="0" u="none" strike="noStrike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 Bold"/>
            </a:endParaRPr>
          </a:p>
        </p:txBody>
      </p:sp>
      <p:sp>
        <p:nvSpPr>
          <p:cNvPr id="40" name="TextBox 37">
            <a:extLst>
              <a:ext uri="{FF2B5EF4-FFF2-40B4-BE49-F238E27FC236}">
                <a16:creationId xmlns:a16="http://schemas.microsoft.com/office/drawing/2014/main" id="{498BC38B-1907-4611-9D2A-33D11C91CEC4}"/>
              </a:ext>
            </a:extLst>
          </p:cNvPr>
          <p:cNvSpPr txBox="1"/>
          <p:nvPr/>
        </p:nvSpPr>
        <p:spPr>
          <a:xfrm>
            <a:off x="16675100" y="7861300"/>
            <a:ext cx="3365500" cy="182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50000"/>
              </a:lnSpc>
            </a:pPr>
            <a:r>
              <a:rPr lang="en-US" sz="2500" b="0" i="0" u="none" strike="noStrike" dirty="0">
                <a:solidFill>
                  <a:srgbClr val="EEEEE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Silver </a:t>
            </a:r>
            <a:r>
              <a:rPr lang="ko-KR" altLang="en-US" sz="2500" b="0" i="0" u="none" strike="noStrike" dirty="0">
                <a:solidFill>
                  <a:srgbClr val="EEEEE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데이터를 </a:t>
            </a:r>
            <a:r>
              <a:rPr lang="en-US" altLang="ko-KR" sz="2500" b="0" i="0" u="none" strike="noStrike" dirty="0">
                <a:solidFill>
                  <a:srgbClr val="EEEEE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Spark</a:t>
            </a:r>
            <a:r>
              <a:rPr lang="ko-KR" altLang="en-US" sz="2500" b="0" i="0" u="none" strike="noStrike" dirty="0">
                <a:solidFill>
                  <a:srgbClr val="EEEEE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로 읽어 스키마 검증</a:t>
            </a:r>
            <a:r>
              <a:rPr lang="en-US" altLang="ko-KR" sz="2500" b="0" i="0" u="none" strike="noStrike" dirty="0">
                <a:solidFill>
                  <a:srgbClr val="EEEEE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,</a:t>
            </a:r>
          </a:p>
          <a:p>
            <a:pPr lvl="0" algn="ctr">
              <a:lnSpc>
                <a:spcPct val="150000"/>
              </a:lnSpc>
            </a:pPr>
            <a:r>
              <a:rPr lang="ko-KR" altLang="en-US" sz="2500" b="0" i="0" u="none" strike="noStrike" dirty="0">
                <a:solidFill>
                  <a:srgbClr val="EEEEE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타입 최적화</a:t>
            </a:r>
            <a:r>
              <a:rPr lang="en-US" altLang="ko-KR" sz="2500" b="0" i="0" u="none" strike="noStrike" dirty="0">
                <a:solidFill>
                  <a:srgbClr val="EEEEE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, </a:t>
            </a:r>
            <a:r>
              <a:rPr lang="ko-KR" altLang="en-US" sz="2500" b="0" i="0" u="none" strike="noStrike" dirty="0">
                <a:solidFill>
                  <a:srgbClr val="EEEEE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필터링 등의 </a:t>
            </a:r>
            <a:r>
              <a:rPr lang="ko-KR" altLang="en-US" sz="2500" b="0" i="0" u="none" strike="noStrike" dirty="0" err="1">
                <a:solidFill>
                  <a:srgbClr val="EEEEE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전처리</a:t>
            </a:r>
            <a:r>
              <a:rPr lang="ko-KR" altLang="en-US" sz="2500" b="0" i="0" u="none" strike="noStrike" dirty="0">
                <a:solidFill>
                  <a:srgbClr val="EEEEE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 수행</a:t>
            </a:r>
            <a:endParaRPr lang="en-US" sz="2500" b="0" i="0" u="none" strike="noStrike" dirty="0">
              <a:solidFill>
                <a:srgbClr val="EEEEEE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 Regular"/>
            </a:endParaRPr>
          </a:p>
        </p:txBody>
      </p:sp>
      <p:sp>
        <p:nvSpPr>
          <p:cNvPr id="41" name="TextBox 38">
            <a:extLst>
              <a:ext uri="{FF2B5EF4-FFF2-40B4-BE49-F238E27FC236}">
                <a16:creationId xmlns:a16="http://schemas.microsoft.com/office/drawing/2014/main" id="{9BA49DE6-D2C2-48F4-9DCE-60620C8D36D6}"/>
              </a:ext>
            </a:extLst>
          </p:cNvPr>
          <p:cNvSpPr txBox="1"/>
          <p:nvPr/>
        </p:nvSpPr>
        <p:spPr>
          <a:xfrm>
            <a:off x="6045200" y="3376800"/>
            <a:ext cx="12306300" cy="1308100"/>
          </a:xfrm>
          <a:prstGeom prst="rect">
            <a:avLst/>
          </a:prstGeom>
        </p:spPr>
        <p:txBody>
          <a:bodyPr lIns="0" tIns="45719" rIns="0" bIns="0" rtlCol="0" anchor="t"/>
          <a:lstStyle/>
          <a:p>
            <a:pPr lvl="0" algn="ctr">
              <a:lnSpc>
                <a:spcPct val="107899"/>
              </a:lnSpc>
            </a:pPr>
            <a:r>
              <a:rPr lang="ko-KR" altLang="en-US" sz="6500" b="0" i="0" u="none" strike="noStrike" dirty="0">
                <a:solidFill>
                  <a:srgbClr val="595959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SB AggroOTF Medium"/>
              </a:rPr>
              <a:t>학습용 데이터 </a:t>
            </a:r>
            <a:r>
              <a:rPr lang="ko-KR" altLang="en-US" sz="6500" b="0" i="0" u="none" strike="noStrike" dirty="0" err="1">
                <a:solidFill>
                  <a:srgbClr val="595959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SB AggroOTF Medium"/>
              </a:rPr>
              <a:t>전처리</a:t>
            </a:r>
            <a:endParaRPr lang="en-US" sz="6500" b="0" i="0" u="none" strike="noStrike" dirty="0">
              <a:solidFill>
                <a:srgbClr val="787878"/>
              </a:solidFill>
              <a:latin typeface="Noto Sans KR Black" panose="020B0200000000000000" pitchFamily="50" charset="-127"/>
              <a:ea typeface="Noto Sans KR Black" panose="020B0200000000000000" pitchFamily="50" charset="-127"/>
              <a:cs typeface="SB AggroOTF Medium"/>
            </a:endParaRPr>
          </a:p>
        </p:txBody>
      </p:sp>
    </p:spTree>
    <p:extLst>
      <p:ext uri="{BB962C8B-B14F-4D97-AF65-F5344CB8AC3E}">
        <p14:creationId xmlns:p14="http://schemas.microsoft.com/office/powerpoint/2010/main" val="11161516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78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" y="990600"/>
            <a:ext cx="22212300" cy="11925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" y="12280900"/>
            <a:ext cx="23037800" cy="77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2260600"/>
            <a:ext cx="21628100" cy="381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6314EE04-1E5B-467C-9AB4-93D5F224AD79}"/>
              </a:ext>
            </a:extLst>
          </p:cNvPr>
          <p:cNvSpPr txBox="1"/>
          <p:nvPr/>
        </p:nvSpPr>
        <p:spPr>
          <a:xfrm>
            <a:off x="1562100" y="1600200"/>
            <a:ext cx="3822700" cy="381000"/>
          </a:xfrm>
          <a:prstGeom prst="rect">
            <a:avLst/>
          </a:prstGeom>
        </p:spPr>
        <p:txBody>
          <a:bodyPr lIns="0" tIns="127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altLang="ko-KR" sz="1999" b="1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NILM-NALM</a:t>
            </a: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F9B0D7AD-9F84-4A9F-8CE4-46ABBB98C2F5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36" t="29597" r="14115" b="12592"/>
          <a:stretch/>
        </p:blipFill>
        <p:spPr>
          <a:xfrm>
            <a:off x="11331575" y="5943600"/>
            <a:ext cx="10683423" cy="4811077"/>
          </a:xfrm>
          <a:prstGeom prst="rect">
            <a:avLst/>
          </a:prstGeom>
        </p:spPr>
      </p:pic>
      <p:sp>
        <p:nvSpPr>
          <p:cNvPr id="43" name="TextBox 38">
            <a:extLst>
              <a:ext uri="{FF2B5EF4-FFF2-40B4-BE49-F238E27FC236}">
                <a16:creationId xmlns:a16="http://schemas.microsoft.com/office/drawing/2014/main" id="{DAECDA0C-88F9-4909-9296-D7F9DF0AB7A4}"/>
              </a:ext>
            </a:extLst>
          </p:cNvPr>
          <p:cNvSpPr txBox="1"/>
          <p:nvPr/>
        </p:nvSpPr>
        <p:spPr>
          <a:xfrm>
            <a:off x="6045200" y="3378200"/>
            <a:ext cx="12306300" cy="1308100"/>
          </a:xfrm>
          <a:prstGeom prst="rect">
            <a:avLst/>
          </a:prstGeom>
        </p:spPr>
        <p:txBody>
          <a:bodyPr lIns="0" tIns="45719" rIns="0" bIns="0" rtlCol="0" anchor="t"/>
          <a:lstStyle/>
          <a:p>
            <a:pPr lvl="0" algn="ctr">
              <a:lnSpc>
                <a:spcPct val="107899"/>
              </a:lnSpc>
            </a:pPr>
            <a:r>
              <a:rPr lang="ko-KR" altLang="en-US" sz="6500" b="0" i="0" u="none" strike="noStrike" dirty="0">
                <a:solidFill>
                  <a:srgbClr val="595959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SB AggroOTF Medium"/>
              </a:rPr>
              <a:t>데이터 분산처리 환경 구성</a:t>
            </a:r>
            <a:endParaRPr lang="en-US" sz="6500" b="0" i="0" u="none" strike="noStrike" dirty="0">
              <a:solidFill>
                <a:srgbClr val="595959"/>
              </a:solidFill>
              <a:latin typeface="Noto Sans KR Black" panose="020B0200000000000000" pitchFamily="50" charset="-127"/>
              <a:ea typeface="Noto Sans KR Black" panose="020B0200000000000000" pitchFamily="50" charset="-127"/>
              <a:cs typeface="SB AggroOTF Medium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95661455-F9C7-4FAB-A829-5EBF2DDBAA41}"/>
              </a:ext>
            </a:extLst>
          </p:cNvPr>
          <p:cNvGrpSpPr/>
          <p:nvPr/>
        </p:nvGrpSpPr>
        <p:grpSpPr>
          <a:xfrm>
            <a:off x="2362200" y="5867784"/>
            <a:ext cx="7699375" cy="1765300"/>
            <a:chOff x="3013075" y="5486400"/>
            <a:chExt cx="6438900" cy="1765300"/>
          </a:xfrm>
        </p:grpSpPr>
        <p:sp>
          <p:nvSpPr>
            <p:cNvPr id="45" name="TextBox 22">
              <a:extLst>
                <a:ext uri="{FF2B5EF4-FFF2-40B4-BE49-F238E27FC236}">
                  <a16:creationId xmlns:a16="http://schemas.microsoft.com/office/drawing/2014/main" id="{76030A5E-3515-42C7-85AB-68556250800B}"/>
                </a:ext>
              </a:extLst>
            </p:cNvPr>
            <p:cNvSpPr txBox="1"/>
            <p:nvPr/>
          </p:nvSpPr>
          <p:spPr>
            <a:xfrm>
              <a:off x="3876675" y="5486400"/>
              <a:ext cx="5575300" cy="5588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r">
                <a:lnSpc>
                  <a:spcPct val="116199"/>
                </a:lnSpc>
              </a:pPr>
              <a:r>
                <a:rPr lang="en-US" sz="3500" b="0" i="0" u="none" strike="noStrike" dirty="0">
                  <a:solidFill>
                    <a:srgbClr val="E8846B"/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  <a:cs typeface="Pretendard Bold"/>
                </a:rPr>
                <a:t>Spark</a:t>
              </a:r>
            </a:p>
          </p:txBody>
        </p:sp>
        <p:sp>
          <p:nvSpPr>
            <p:cNvPr id="46" name="TextBox 23">
              <a:extLst>
                <a:ext uri="{FF2B5EF4-FFF2-40B4-BE49-F238E27FC236}">
                  <a16:creationId xmlns:a16="http://schemas.microsoft.com/office/drawing/2014/main" id="{65F46B28-5A50-483E-BD70-6999EF9F9DC4}"/>
                </a:ext>
              </a:extLst>
            </p:cNvPr>
            <p:cNvSpPr txBox="1"/>
            <p:nvPr/>
          </p:nvSpPr>
          <p:spPr>
            <a:xfrm>
              <a:off x="3013075" y="6248400"/>
              <a:ext cx="6438900" cy="10033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r">
                <a:lnSpc>
                  <a:spcPct val="141100"/>
                </a:lnSpc>
              </a:pPr>
              <a:r>
                <a:rPr lang="en-US" sz="2500" b="0" i="0" u="none" strike="noStrike" dirty="0">
                  <a:solidFill>
                    <a:srgbClr val="787878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Pretendard Regular"/>
                </a:rPr>
                <a:t>·  </a:t>
              </a:r>
              <a:r>
                <a:rPr lang="en-US" sz="2500" dirty="0">
                  <a:solidFill>
                    <a:srgbClr val="787878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Pretendard Regular"/>
                </a:rPr>
                <a:t>AI</a:t>
              </a:r>
              <a:r>
                <a:rPr lang="ko-KR" altLang="en-US" sz="2500" dirty="0">
                  <a:solidFill>
                    <a:srgbClr val="787878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Pretendard Regular"/>
                </a:rPr>
                <a:t> 학습 전 데이터 전처리를 분산처리하기 위해 사용</a:t>
              </a:r>
              <a:endParaRPr lang="en-US" sz="2500" b="0" i="0" u="none" strike="noStrike" dirty="0">
                <a:solidFill>
                  <a:srgbClr val="78787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endParaRPr>
            </a:p>
            <a:p>
              <a:pPr lvl="0" algn="r">
                <a:lnSpc>
                  <a:spcPct val="141100"/>
                </a:lnSpc>
              </a:pPr>
              <a:r>
                <a:rPr lang="en-US" sz="2500" b="0" i="0" u="none" strike="noStrike" dirty="0">
                  <a:solidFill>
                    <a:srgbClr val="787878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Pretendard Regular"/>
                </a:rPr>
                <a:t>· </a:t>
              </a:r>
              <a:r>
                <a:rPr lang="en-US" sz="2500" dirty="0">
                  <a:solidFill>
                    <a:srgbClr val="787878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Pretendard Regular"/>
                </a:rPr>
                <a:t>AI </a:t>
              </a:r>
              <a:r>
                <a:rPr lang="ko-KR" altLang="en-US" sz="2500" dirty="0">
                  <a:solidFill>
                    <a:srgbClr val="787878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Pretendard Regular"/>
                </a:rPr>
                <a:t>학습용 데이터 제작</a:t>
              </a:r>
              <a:endParaRPr lang="en-US" sz="2500" b="0" i="0" u="none" strike="noStrike" dirty="0">
                <a:solidFill>
                  <a:srgbClr val="78787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70EA5B31-8011-4C3F-A0F4-97751F8861B7}"/>
              </a:ext>
            </a:extLst>
          </p:cNvPr>
          <p:cNvGrpSpPr/>
          <p:nvPr/>
        </p:nvGrpSpPr>
        <p:grpSpPr>
          <a:xfrm>
            <a:off x="2819400" y="8693150"/>
            <a:ext cx="7242175" cy="1765300"/>
            <a:chOff x="2209800" y="8191501"/>
            <a:chExt cx="7242175" cy="1765300"/>
          </a:xfrm>
        </p:grpSpPr>
        <p:sp>
          <p:nvSpPr>
            <p:cNvPr id="48" name="TextBox 22">
              <a:extLst>
                <a:ext uri="{FF2B5EF4-FFF2-40B4-BE49-F238E27FC236}">
                  <a16:creationId xmlns:a16="http://schemas.microsoft.com/office/drawing/2014/main" id="{C39E7A9C-AE13-44B9-B926-982C6B665F44}"/>
                </a:ext>
              </a:extLst>
            </p:cNvPr>
            <p:cNvSpPr txBox="1"/>
            <p:nvPr/>
          </p:nvSpPr>
          <p:spPr>
            <a:xfrm>
              <a:off x="3876675" y="8191501"/>
              <a:ext cx="5575300" cy="5588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r">
                <a:lnSpc>
                  <a:spcPct val="116199"/>
                </a:lnSpc>
              </a:pPr>
              <a:r>
                <a:rPr lang="en-US" sz="3500" b="0" i="0" u="none" strike="noStrike" dirty="0">
                  <a:solidFill>
                    <a:srgbClr val="E8846B"/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  <a:cs typeface="Pretendard Bold"/>
                </a:rPr>
                <a:t>HDFS</a:t>
              </a:r>
            </a:p>
          </p:txBody>
        </p:sp>
        <p:sp>
          <p:nvSpPr>
            <p:cNvPr id="49" name="TextBox 23">
              <a:extLst>
                <a:ext uri="{FF2B5EF4-FFF2-40B4-BE49-F238E27FC236}">
                  <a16:creationId xmlns:a16="http://schemas.microsoft.com/office/drawing/2014/main" id="{4EB54E5B-6123-4937-8CFD-E3BBC22731AF}"/>
                </a:ext>
              </a:extLst>
            </p:cNvPr>
            <p:cNvSpPr txBox="1"/>
            <p:nvPr/>
          </p:nvSpPr>
          <p:spPr>
            <a:xfrm>
              <a:off x="2209800" y="8953501"/>
              <a:ext cx="7242175" cy="10033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r">
                <a:lnSpc>
                  <a:spcPct val="141100"/>
                </a:lnSpc>
              </a:pPr>
              <a:r>
                <a:rPr lang="en-US" sz="2500" b="0" i="0" u="none" strike="noStrike" dirty="0">
                  <a:solidFill>
                    <a:srgbClr val="787878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Pretendard Regular"/>
                </a:rPr>
                <a:t>·  </a:t>
              </a:r>
              <a:r>
                <a:rPr lang="ko-KR" altLang="en-US" sz="2500" dirty="0">
                  <a:solidFill>
                    <a:srgbClr val="787878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Pretendard Regular"/>
                </a:rPr>
                <a:t>용량이 큰 원천 데이터를 분산저장하기 위해 사용</a:t>
              </a:r>
              <a:endParaRPr lang="en-US" altLang="ko-KR" sz="2500" dirty="0">
                <a:solidFill>
                  <a:srgbClr val="78787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endParaRPr>
            </a:p>
            <a:p>
              <a:pPr lvl="0" algn="r">
                <a:lnSpc>
                  <a:spcPct val="141100"/>
                </a:lnSpc>
              </a:pPr>
              <a:r>
                <a:rPr lang="en-US" sz="2500" b="0" i="0" u="none" strike="noStrike" dirty="0">
                  <a:solidFill>
                    <a:srgbClr val="787878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Pretendard Regular"/>
                </a:rPr>
                <a:t>· </a:t>
              </a:r>
              <a:r>
                <a:rPr lang="ko-KR" altLang="en-US" sz="2500" dirty="0">
                  <a:solidFill>
                    <a:srgbClr val="787878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Pretendard Regular"/>
                </a:rPr>
                <a:t>효율적 전처리를 위한 컬럼 기반 데이터 파일 제공</a:t>
              </a:r>
              <a:endParaRPr lang="en-US" sz="2500" b="0" i="0" u="none" strike="noStrike" dirty="0">
                <a:solidFill>
                  <a:srgbClr val="78787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95499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" y="990600"/>
            <a:ext cx="22212300" cy="11925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12280900"/>
            <a:ext cx="23037800" cy="77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260600"/>
            <a:ext cx="21628100" cy="38100"/>
          </a:xfrm>
          <a:prstGeom prst="rect">
            <a:avLst/>
          </a:prstGeom>
        </p:spPr>
      </p:pic>
      <p:sp>
        <p:nvSpPr>
          <p:cNvPr id="12" name="TextBox 6">
            <a:extLst>
              <a:ext uri="{FF2B5EF4-FFF2-40B4-BE49-F238E27FC236}">
                <a16:creationId xmlns:a16="http://schemas.microsoft.com/office/drawing/2014/main" id="{82883A26-8523-4928-ACC3-A848A2B6A3F2}"/>
              </a:ext>
            </a:extLst>
          </p:cNvPr>
          <p:cNvSpPr txBox="1"/>
          <p:nvPr/>
        </p:nvSpPr>
        <p:spPr>
          <a:xfrm>
            <a:off x="1562100" y="1600200"/>
            <a:ext cx="3822700" cy="381000"/>
          </a:xfrm>
          <a:prstGeom prst="rect">
            <a:avLst/>
          </a:prstGeom>
        </p:spPr>
        <p:txBody>
          <a:bodyPr lIns="0" tIns="127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altLang="ko-KR" sz="1999" b="1" i="0" u="none" strike="noStrike" dirty="0">
                <a:solidFill>
                  <a:srgbClr val="59595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 Regular"/>
              </a:rPr>
              <a:t>NILM-NALM</a:t>
            </a:r>
          </a:p>
        </p:txBody>
      </p:sp>
    </p:spTree>
    <p:extLst>
      <p:ext uri="{BB962C8B-B14F-4D97-AF65-F5344CB8AC3E}">
        <p14:creationId xmlns:p14="http://schemas.microsoft.com/office/powerpoint/2010/main" val="6578616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990600"/>
            <a:ext cx="22212300" cy="11925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2241550"/>
            <a:ext cx="21628100" cy="38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500" y="3200400"/>
            <a:ext cx="8255000" cy="8255000"/>
          </a:xfrm>
          <a:prstGeom prst="rect">
            <a:avLst/>
          </a:prstGeom>
          <a:effectLst>
            <a:outerShdw blurRad="330200" dist="762000" dir="2700000">
              <a:srgbClr val="000000">
                <a:alpha val="5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6800" y="5295900"/>
            <a:ext cx="12103100" cy="40513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562100" y="1587500"/>
            <a:ext cx="3822700" cy="381000"/>
          </a:xfrm>
          <a:prstGeom prst="rect">
            <a:avLst/>
          </a:prstGeom>
        </p:spPr>
        <p:txBody>
          <a:bodyPr lIns="0" tIns="127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altLang="ko-KR" sz="1999" b="1" i="0" u="none" strike="noStrike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NILM-NALM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53800" y="4356100"/>
            <a:ext cx="1689100" cy="16764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7264400" y="8407400"/>
            <a:ext cx="9867900" cy="736600"/>
          </a:xfrm>
          <a:prstGeom prst="rect">
            <a:avLst/>
          </a:prstGeom>
        </p:spPr>
        <p:txBody>
          <a:bodyPr lIns="0" tIns="25399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3999" b="0" i="0" u="none" strike="noStrike" spc="3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 경청해주셔서 감사합니다.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210300" y="6032500"/>
            <a:ext cx="11976100" cy="2400300"/>
          </a:xfrm>
          <a:prstGeom prst="rect">
            <a:avLst/>
          </a:prstGeom>
        </p:spPr>
        <p:txBody>
          <a:bodyPr lIns="0" tIns="253994" rIns="0" bIns="0" rtlCol="0" anchor="t"/>
          <a:lstStyle/>
          <a:p>
            <a:pPr lvl="0" algn="ctr">
              <a:lnSpc>
                <a:spcPct val="91299"/>
              </a:lnSpc>
            </a:pPr>
            <a:r>
              <a:rPr lang="en-US" sz="13332" b="0" i="0" u="none" strike="noStrike">
                <a:solidFill>
                  <a:srgbClr val="FFFFFF"/>
                </a:solidFill>
                <a:latin typeface="SB AggroOTF Medium"/>
                <a:ea typeface="SB AggroOTF Medium"/>
                <a:cs typeface="SB AggroOTF Medium"/>
              </a:rPr>
              <a:t>Thank You!</a:t>
            </a:r>
          </a:p>
        </p:txBody>
      </p:sp>
      <p:pic>
        <p:nvPicPr>
          <p:cNvPr id="18" name="Picture 4">
            <a:extLst>
              <a:ext uri="{FF2B5EF4-FFF2-40B4-BE49-F238E27FC236}">
                <a16:creationId xmlns:a16="http://schemas.microsoft.com/office/drawing/2014/main" id="{EB7D3C08-BAAD-4BB1-B66E-AFCF0F3210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" y="2260600"/>
            <a:ext cx="21628100" cy="38100"/>
          </a:xfrm>
          <a:prstGeom prst="rect">
            <a:avLst/>
          </a:prstGeom>
        </p:spPr>
      </p:pic>
      <p:pic>
        <p:nvPicPr>
          <p:cNvPr id="19" name="Picture 3">
            <a:extLst>
              <a:ext uri="{FF2B5EF4-FFF2-40B4-BE49-F238E27FC236}">
                <a16:creationId xmlns:a16="http://schemas.microsoft.com/office/drawing/2014/main" id="{D4960E10-D72B-4D10-AC76-F768F5B92F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100" y="12280900"/>
            <a:ext cx="23037800" cy="7747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" y="990600"/>
            <a:ext cx="22212300" cy="11925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12280900"/>
            <a:ext cx="23037800" cy="77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260600"/>
            <a:ext cx="21628100" cy="381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562100" y="1600200"/>
            <a:ext cx="3822700" cy="381000"/>
          </a:xfrm>
          <a:prstGeom prst="rect">
            <a:avLst/>
          </a:prstGeom>
        </p:spPr>
        <p:txBody>
          <a:bodyPr lIns="0" tIns="127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altLang="ko-KR" sz="1999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NILM-NALM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19000" y="5435600"/>
            <a:ext cx="10147300" cy="62484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133600" y="7747000"/>
            <a:ext cx="9639300" cy="347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just">
              <a:lnSpc>
                <a:spcPct val="132800"/>
              </a:lnSpc>
            </a:pPr>
            <a:r>
              <a:rPr lang="en-US" sz="2466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해당 페이지는 많은 분량 텍스트를 입력할 때 쓰기 좋은 페이지입니다. 10줄 이상의 텍스트를 넣어야 할 때 이 페이지를 활용해보세요. 중요한 내용이나 길게 의견을 보여주어야 할 경우 해당 페이지를 활용해보세요. 가독성의 핵심은 얼마나 내용을 간결하게 전달하는가 입니다. 쉽게 읽을 수 있고, 눈에 잘띄는 것이 중요해요. 프레젠테이션의 전체적인 톤앤매너와 맞는 폰트와 색상 등을 활용해주세요. 줄 글 중 강조하고 싶은 부분은 볼드체 또는 큰 사이즈로 표현해보세요. 구체적인 예시나 수치 등을 활용하면 좋습니다.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36800" y="5664200"/>
            <a:ext cx="8953500" cy="1511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3999" b="0" i="0" u="none" strike="noStrike" dirty="0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이 </a:t>
            </a:r>
            <a:r>
              <a:rPr lang="en-US" sz="3999" b="0" i="0" u="none" strike="noStrike" dirty="0" err="1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페이지</a:t>
            </a:r>
            <a:r>
              <a:rPr lang="en-US" sz="3999" b="0" i="0" u="none" strike="noStrike" dirty="0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3999" b="0" i="0" u="none" strike="noStrike" dirty="0" err="1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또는</a:t>
            </a:r>
            <a:r>
              <a:rPr lang="en-US" sz="3999" b="0" i="0" u="none" strike="noStrike" dirty="0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3999" b="0" i="0" u="none" strike="noStrike" dirty="0" err="1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프레젠테이션의</a:t>
            </a:r>
            <a:r>
              <a:rPr lang="en-US" sz="3999" b="0" i="0" u="none" strike="noStrike" dirty="0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 </a:t>
            </a:r>
          </a:p>
          <a:p>
            <a:pPr lvl="0" algn="l">
              <a:lnSpc>
                <a:spcPct val="124499"/>
              </a:lnSpc>
            </a:pPr>
            <a:r>
              <a:rPr lang="en-US" sz="3999" b="0" i="0" u="none" strike="noStrike" dirty="0" err="1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핵심내용을</a:t>
            </a:r>
            <a:r>
              <a:rPr lang="en-US" sz="3999" b="0" i="0" u="none" strike="noStrike" dirty="0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3999" b="0" i="0" u="none" strike="noStrike" dirty="0" err="1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입력해주세요</a:t>
            </a:r>
            <a:r>
              <a:rPr lang="en-US" sz="3999" b="0" i="0" u="none" strike="noStrike" dirty="0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045200" y="3378200"/>
            <a:ext cx="12306300" cy="1308100"/>
          </a:xfrm>
          <a:prstGeom prst="rect">
            <a:avLst/>
          </a:prstGeom>
        </p:spPr>
        <p:txBody>
          <a:bodyPr lIns="0" tIns="45719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7198" b="0" i="0" u="none" strike="noStrike" dirty="0" err="1">
                <a:solidFill>
                  <a:srgbClr val="595959"/>
                </a:solidFill>
                <a:latin typeface="SB AggroOTF Medium"/>
                <a:ea typeface="SB AggroOTF Medium"/>
                <a:cs typeface="SB AggroOTF Medium"/>
              </a:rPr>
              <a:t>가독성</a:t>
            </a:r>
            <a:r>
              <a:rPr lang="en-US" sz="7198" b="0" i="0" u="none" strike="noStrike" dirty="0">
                <a:solidFill>
                  <a:srgbClr val="595959"/>
                </a:solidFill>
                <a:latin typeface="SB AggroOTF Medium"/>
                <a:ea typeface="SB AggroOTF Medium"/>
                <a:cs typeface="SB AggroOTF Medium"/>
              </a:rPr>
              <a:t> </a:t>
            </a:r>
            <a:r>
              <a:rPr lang="en-US" sz="7198" b="0" i="0" u="none" strike="noStrike" dirty="0" err="1">
                <a:solidFill>
                  <a:srgbClr val="595959"/>
                </a:solidFill>
                <a:latin typeface="SB AggroOTF Medium"/>
                <a:ea typeface="SB AggroOTF Medium"/>
                <a:cs typeface="SB AggroOTF Medium"/>
              </a:rPr>
              <a:t>좋은</a:t>
            </a:r>
            <a:r>
              <a:rPr lang="en-US" sz="7198" b="0" i="0" u="none" strike="noStrike" dirty="0">
                <a:solidFill>
                  <a:srgbClr val="595959"/>
                </a:solidFill>
                <a:latin typeface="SB AggroOTF Medium"/>
                <a:ea typeface="SB AggroOTF Medium"/>
                <a:cs typeface="SB AggroOTF Medium"/>
              </a:rPr>
              <a:t> </a:t>
            </a:r>
            <a:r>
              <a:rPr lang="en-US" sz="7198" b="0" i="0" u="none" strike="noStrike" dirty="0" err="1">
                <a:solidFill>
                  <a:srgbClr val="787878"/>
                </a:solidFill>
                <a:latin typeface="SB AggroOTF Medium"/>
                <a:ea typeface="SB AggroOTF Medium"/>
                <a:cs typeface="SB AggroOTF Medium"/>
              </a:rPr>
              <a:t>텍스트</a:t>
            </a:r>
            <a:r>
              <a:rPr lang="en-US" sz="7198" b="0" i="0" u="none" strike="noStrike" dirty="0">
                <a:solidFill>
                  <a:srgbClr val="787878"/>
                </a:solidFill>
                <a:latin typeface="SB AggroOTF Medium"/>
                <a:ea typeface="SB AggroOTF Medium"/>
                <a:cs typeface="SB AggroOTF Medium"/>
              </a:rPr>
              <a:t> </a:t>
            </a:r>
            <a:r>
              <a:rPr lang="en-US" sz="7198" b="0" i="0" u="none" strike="noStrike" dirty="0" err="1">
                <a:solidFill>
                  <a:srgbClr val="787878"/>
                </a:solidFill>
                <a:latin typeface="SB AggroOTF Medium"/>
                <a:ea typeface="SB AggroOTF Medium"/>
                <a:cs typeface="SB AggroOTF Medium"/>
              </a:rPr>
              <a:t>페이지</a:t>
            </a:r>
            <a:endParaRPr lang="en-US" sz="7198" b="0" i="0" u="none" strike="noStrike" dirty="0">
              <a:solidFill>
                <a:srgbClr val="787878"/>
              </a:solidFill>
              <a:latin typeface="SB AggroOTF Medium"/>
              <a:ea typeface="SB AggroOTF Medium"/>
              <a:cs typeface="SB AggroOTF Medium"/>
            </a:endParaRPr>
          </a:p>
        </p:txBody>
      </p:sp>
    </p:spTree>
    <p:extLst>
      <p:ext uri="{BB962C8B-B14F-4D97-AF65-F5344CB8AC3E}">
        <p14:creationId xmlns:p14="http://schemas.microsoft.com/office/powerpoint/2010/main" val="39999615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" y="990600"/>
            <a:ext cx="22212300" cy="11925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12280900"/>
            <a:ext cx="23037800" cy="77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260600"/>
            <a:ext cx="21628100" cy="381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562100" y="1600200"/>
            <a:ext cx="3822700" cy="381000"/>
          </a:xfrm>
          <a:prstGeom prst="rect">
            <a:avLst/>
          </a:prstGeom>
        </p:spPr>
        <p:txBody>
          <a:bodyPr lIns="0" tIns="127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altLang="ko-KR" sz="1999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NILM-NALM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8509000" y="7162800"/>
            <a:ext cx="2349500" cy="5054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13538200" y="7162800"/>
            <a:ext cx="2336800" cy="5054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0909300" y="9575800"/>
            <a:ext cx="2565400" cy="50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3300" y="10274300"/>
            <a:ext cx="12217400" cy="11303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7480300" y="10566400"/>
            <a:ext cx="9436100" cy="596900"/>
          </a:xfrm>
          <a:prstGeom prst="rect">
            <a:avLst/>
          </a:prstGeom>
        </p:spPr>
        <p:txBody>
          <a:bodyPr lIns="0" tIns="20319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3199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이곳에 위 3가지 키워드의 핵심 주제를 입력해주세요.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417800" y="5130800"/>
            <a:ext cx="4076700" cy="40767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89500" y="5130800"/>
            <a:ext cx="4076700" cy="4076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45700" y="5130800"/>
            <a:ext cx="4076700" cy="40767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73800" y="5892800"/>
            <a:ext cx="1308100" cy="12954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30000" y="5892800"/>
            <a:ext cx="1308100" cy="12954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814800" y="5892800"/>
            <a:ext cx="1295400" cy="12954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5473700" y="7404100"/>
            <a:ext cx="2895600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799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키워드를</a:t>
            </a:r>
          </a:p>
          <a:p>
            <a:pPr lvl="0" algn="ctr">
              <a:lnSpc>
                <a:spcPct val="116199"/>
              </a:lnSpc>
            </a:pPr>
            <a:r>
              <a:rPr lang="en-US" sz="2799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입력해주세요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629900" y="7404100"/>
            <a:ext cx="2895600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799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키워드를</a:t>
            </a:r>
          </a:p>
          <a:p>
            <a:pPr lvl="0" algn="ctr">
              <a:lnSpc>
                <a:spcPct val="116199"/>
              </a:lnSpc>
            </a:pPr>
            <a:r>
              <a:rPr lang="en-US" sz="2799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입력해주세요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014700" y="7404100"/>
            <a:ext cx="2895600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799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키워드를</a:t>
            </a:r>
          </a:p>
          <a:p>
            <a:pPr lvl="0" algn="ctr">
              <a:lnSpc>
                <a:spcPct val="116199"/>
              </a:lnSpc>
            </a:pPr>
            <a:r>
              <a:rPr lang="en-US" sz="2799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입력해주세요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045200" y="3378200"/>
            <a:ext cx="12306300" cy="1308100"/>
          </a:xfrm>
          <a:prstGeom prst="rect">
            <a:avLst/>
          </a:prstGeom>
        </p:spPr>
        <p:txBody>
          <a:bodyPr lIns="0" tIns="45719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7198" b="0" i="0" u="none" strike="noStrike">
                <a:solidFill>
                  <a:srgbClr val="595959"/>
                </a:solidFill>
                <a:latin typeface="SB AggroOTF Medium"/>
                <a:ea typeface="SB AggroOTF Medium"/>
                <a:cs typeface="SB AggroOTF Medium"/>
              </a:rPr>
              <a:t>3가지 키워드</a:t>
            </a:r>
            <a:r>
              <a:rPr lang="en-US" sz="7198" b="0" i="0" u="none" strike="noStrike">
                <a:solidFill>
                  <a:srgbClr val="787878"/>
                </a:solidFill>
                <a:latin typeface="SB AggroOTF Medium"/>
                <a:ea typeface="SB AggroOTF Medium"/>
                <a:cs typeface="SB AggroOTF Medium"/>
              </a:rPr>
              <a:t> 레이아웃</a:t>
            </a:r>
          </a:p>
        </p:txBody>
      </p:sp>
    </p:spTree>
    <p:extLst>
      <p:ext uri="{BB962C8B-B14F-4D97-AF65-F5344CB8AC3E}">
        <p14:creationId xmlns:p14="http://schemas.microsoft.com/office/powerpoint/2010/main" val="30388827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" y="990600"/>
            <a:ext cx="22212300" cy="11925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12280900"/>
            <a:ext cx="23037800" cy="77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260600"/>
            <a:ext cx="21628100" cy="381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562100" y="1600200"/>
            <a:ext cx="3822700" cy="381000"/>
          </a:xfrm>
          <a:prstGeom prst="rect">
            <a:avLst/>
          </a:prstGeom>
        </p:spPr>
        <p:txBody>
          <a:bodyPr lIns="0" tIns="127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altLang="ko-KR" sz="1999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NILM-NALM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700000">
            <a:off x="9588500" y="5702300"/>
            <a:ext cx="5219700" cy="5219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6400" y="5422900"/>
            <a:ext cx="2768600" cy="2768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31700" y="5422900"/>
            <a:ext cx="2768600" cy="276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6400" y="8432800"/>
            <a:ext cx="2768600" cy="2768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31700" y="8432800"/>
            <a:ext cx="2768600" cy="2768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21900" y="5930900"/>
            <a:ext cx="1104900" cy="1117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69900" y="5930900"/>
            <a:ext cx="1104900" cy="1104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21900" y="8928100"/>
            <a:ext cx="1104900" cy="11049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169900" y="8928100"/>
            <a:ext cx="1104900" cy="11049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9385300" y="7251700"/>
            <a:ext cx="2590800" cy="482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533" b="0" i="0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Keyword 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395200" y="7251700"/>
            <a:ext cx="2654300" cy="482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533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Keyword B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85300" y="10299700"/>
            <a:ext cx="2590800" cy="482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533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Keyword C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395200" y="10299700"/>
            <a:ext cx="2654300" cy="482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533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Keyword 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022600" y="5930900"/>
            <a:ext cx="55753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키워드A에 대해 입력해주세요.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159000" y="6692900"/>
            <a:ext cx="6438900" cy="1003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41100"/>
              </a:lnSpc>
            </a:pPr>
            <a:r>
              <a:rPr lang="en-US" sz="2466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·  주제에 대한 세부내용을 간략하게 입력해주세요.</a:t>
            </a:r>
          </a:p>
          <a:p>
            <a:pPr lvl="0" algn="r">
              <a:lnSpc>
                <a:spcPct val="141100"/>
              </a:lnSpc>
            </a:pPr>
            <a:r>
              <a:rPr lang="en-US" sz="2466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·  폰트는 프리텐다드 레귤러, 크기는 18pt 입니다.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760700" y="5930900"/>
            <a:ext cx="55753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키워드B에 대해 입력해주세요.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760700" y="6692900"/>
            <a:ext cx="6438900" cy="1003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1100"/>
              </a:lnSpc>
            </a:pPr>
            <a:r>
              <a:rPr lang="en-US" sz="2466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·  주제에 대한 세부내용을 간략하게 입력해주세요.</a:t>
            </a:r>
          </a:p>
          <a:p>
            <a:pPr lvl="0" algn="l">
              <a:lnSpc>
                <a:spcPct val="141100"/>
              </a:lnSpc>
            </a:pPr>
            <a:r>
              <a:rPr lang="en-US" sz="2466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·  폰트는 프리텐다드 레귤러, 크기는 18pt 입니다.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009900" y="9144000"/>
            <a:ext cx="55753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키워드C에 대해 입력해주세요.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146300" y="9906000"/>
            <a:ext cx="6438900" cy="1003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41100"/>
              </a:lnSpc>
            </a:pPr>
            <a:r>
              <a:rPr lang="en-US" sz="2466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·  주제에 대한 세부내용을 간략하게 입력해주세요.</a:t>
            </a:r>
          </a:p>
          <a:p>
            <a:pPr lvl="0" algn="r">
              <a:lnSpc>
                <a:spcPct val="141100"/>
              </a:lnSpc>
            </a:pPr>
            <a:r>
              <a:rPr lang="en-US" sz="2466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·  폰트는 프리텐다드 레귤러, 크기는 18pt 입니다.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760700" y="9156700"/>
            <a:ext cx="55753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키워드D에 대해 입력해주세요.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760700" y="9918700"/>
            <a:ext cx="6438900" cy="1003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1100"/>
              </a:lnSpc>
            </a:pPr>
            <a:r>
              <a:rPr lang="en-US" sz="2466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·  주제에 대한 세부내용을 간략하게 입력해주세요.</a:t>
            </a:r>
          </a:p>
          <a:p>
            <a:pPr lvl="0" algn="l">
              <a:lnSpc>
                <a:spcPct val="141100"/>
              </a:lnSpc>
            </a:pPr>
            <a:r>
              <a:rPr lang="en-US" sz="2466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·  폰트는 프리텐다드 레귤러, 크기는 18pt 입니다.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045200" y="3378200"/>
            <a:ext cx="12306300" cy="1308100"/>
          </a:xfrm>
          <a:prstGeom prst="rect">
            <a:avLst/>
          </a:prstGeom>
        </p:spPr>
        <p:txBody>
          <a:bodyPr lIns="0" tIns="45719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7198" b="0" i="0" u="none" strike="noStrike">
                <a:solidFill>
                  <a:srgbClr val="595959"/>
                </a:solidFill>
                <a:latin typeface="SB AggroOTF Medium"/>
                <a:ea typeface="SB AggroOTF Medium"/>
                <a:cs typeface="SB AggroOTF Medium"/>
              </a:rPr>
              <a:t>4가지 키워드</a:t>
            </a:r>
            <a:r>
              <a:rPr lang="en-US" sz="7198" b="0" i="0" u="none" strike="noStrike">
                <a:solidFill>
                  <a:srgbClr val="787878"/>
                </a:solidFill>
                <a:latin typeface="SB AggroOTF Medium"/>
                <a:ea typeface="SB AggroOTF Medium"/>
                <a:cs typeface="SB AggroOTF Medium"/>
              </a:rPr>
              <a:t> 레이아웃</a:t>
            </a:r>
          </a:p>
        </p:txBody>
      </p:sp>
    </p:spTree>
    <p:extLst>
      <p:ext uri="{BB962C8B-B14F-4D97-AF65-F5344CB8AC3E}">
        <p14:creationId xmlns:p14="http://schemas.microsoft.com/office/powerpoint/2010/main" val="14660564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" y="990600"/>
            <a:ext cx="22212300" cy="11925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12280900"/>
            <a:ext cx="23037800" cy="77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260600"/>
            <a:ext cx="21628100" cy="38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639300" y="8305800"/>
            <a:ext cx="5105400" cy="38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9200" y="4940300"/>
            <a:ext cx="6756400" cy="67691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5207000" y="5753100"/>
            <a:ext cx="3848100" cy="457200"/>
          </a:xfrm>
          <a:prstGeom prst="rect">
            <a:avLst/>
          </a:prstGeom>
        </p:spPr>
        <p:txBody>
          <a:bodyPr lIns="0" tIns="30479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399" b="0" i="0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Before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7600" y="6324600"/>
            <a:ext cx="1879600" cy="18669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4343400" y="8331200"/>
            <a:ext cx="55753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6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핵심 키워드를 입력해주세요.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911600" y="9207500"/>
            <a:ext cx="6438900" cy="1435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399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· 핵심 키워드 대한 세부내용을 입력해주세요.</a:t>
            </a:r>
          </a:p>
          <a:p>
            <a:pPr lvl="0" algn="ctr">
              <a:lnSpc>
                <a:spcPct val="132800"/>
              </a:lnSpc>
            </a:pPr>
            <a:r>
              <a:rPr lang="en-US" sz="2399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·  폰트는 프리텐다드 레귤러 18pt 입니다.</a:t>
            </a:r>
          </a:p>
          <a:p>
            <a:pPr lvl="0" algn="ctr">
              <a:lnSpc>
                <a:spcPct val="132800"/>
              </a:lnSpc>
            </a:pPr>
            <a:r>
              <a:rPr lang="en-US" sz="2399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·  이곳에 텍스트를 입력해주세요.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68400" y="4940300"/>
            <a:ext cx="6756400" cy="6769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319500" y="6324600"/>
            <a:ext cx="1866900" cy="18669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5328900" y="5765800"/>
            <a:ext cx="3848100" cy="457200"/>
          </a:xfrm>
          <a:prstGeom prst="rect">
            <a:avLst/>
          </a:prstGeom>
        </p:spPr>
        <p:txBody>
          <a:bodyPr lIns="0" tIns="30479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399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After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465300" y="8331200"/>
            <a:ext cx="55753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66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핵심 키워드를 입력해주세요.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033500" y="9207500"/>
            <a:ext cx="6438900" cy="1435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399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· 핵심 키워드 대한 세부내용을 입력해주세요.</a:t>
            </a:r>
          </a:p>
          <a:p>
            <a:pPr lvl="0" algn="ctr">
              <a:lnSpc>
                <a:spcPct val="132800"/>
              </a:lnSpc>
            </a:pPr>
            <a:r>
              <a:rPr lang="en-US" sz="2399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·  폰트는 프리텐다드 레귤러 18pt 입니다.</a:t>
            </a:r>
          </a:p>
          <a:p>
            <a:pPr lvl="0" algn="ctr">
              <a:lnSpc>
                <a:spcPct val="132800"/>
              </a:lnSpc>
            </a:pPr>
            <a:r>
              <a:rPr lang="en-US" sz="2399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·  이곳에 텍스트를 입력해주세요.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100" y="1600200"/>
            <a:ext cx="3822700" cy="381000"/>
          </a:xfrm>
          <a:prstGeom prst="rect">
            <a:avLst/>
          </a:prstGeom>
        </p:spPr>
        <p:txBody>
          <a:bodyPr lIns="0" tIns="127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altLang="ko-KR" sz="1999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NILM-NALM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045200" y="3378200"/>
            <a:ext cx="12306300" cy="1308100"/>
          </a:xfrm>
          <a:prstGeom prst="rect">
            <a:avLst/>
          </a:prstGeom>
        </p:spPr>
        <p:txBody>
          <a:bodyPr lIns="0" tIns="45719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7198" b="0" i="0" u="none" strike="noStrike">
                <a:solidFill>
                  <a:srgbClr val="595959"/>
                </a:solidFill>
                <a:latin typeface="SB AggroOTF Medium"/>
                <a:ea typeface="SB AggroOTF Medium"/>
                <a:cs typeface="SB AggroOTF Medium"/>
              </a:rPr>
              <a:t>2가지 비교</a:t>
            </a:r>
            <a:r>
              <a:rPr lang="en-US" sz="7198" b="0" i="0" u="none" strike="noStrike">
                <a:solidFill>
                  <a:srgbClr val="787878"/>
                </a:solidFill>
                <a:latin typeface="SB AggroOTF Medium"/>
                <a:ea typeface="SB AggroOTF Medium"/>
                <a:cs typeface="SB AggroOTF Medium"/>
              </a:rPr>
              <a:t>하는 레이아웃</a:t>
            </a:r>
          </a:p>
        </p:txBody>
      </p:sp>
    </p:spTree>
    <p:extLst>
      <p:ext uri="{BB962C8B-B14F-4D97-AF65-F5344CB8AC3E}">
        <p14:creationId xmlns:p14="http://schemas.microsoft.com/office/powerpoint/2010/main" val="22055228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" y="990600"/>
            <a:ext cx="22212300" cy="11925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12280900"/>
            <a:ext cx="23037800" cy="77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260600"/>
            <a:ext cx="21628100" cy="381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562100" y="1600200"/>
            <a:ext cx="3822700" cy="381000"/>
          </a:xfrm>
          <a:prstGeom prst="rect">
            <a:avLst/>
          </a:prstGeom>
        </p:spPr>
        <p:txBody>
          <a:bodyPr lIns="0" tIns="127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altLang="ko-KR" sz="1999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NILM-NALM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3600" y="5207000"/>
            <a:ext cx="6375400" cy="4089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7700" y="5092700"/>
            <a:ext cx="914400" cy="9144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879600" y="5283200"/>
            <a:ext cx="1003300" cy="5080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73300" y="9652000"/>
            <a:ext cx="6121400" cy="558800"/>
          </a:xfrm>
          <a:prstGeom prst="rect">
            <a:avLst/>
          </a:prstGeom>
        </p:spPr>
        <p:txBody>
          <a:bodyPr lIns="0" tIns="37252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33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핵심 키워드를 입력해주세요.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0600" y="10375900"/>
            <a:ext cx="6121400" cy="381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2108200" y="10642600"/>
            <a:ext cx="6438900" cy="1003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41100"/>
              </a:lnSpc>
            </a:pPr>
            <a:r>
              <a:rPr lang="en-US" sz="2466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·  주제에 대한 세부내용을 간략하게 입력해주세요.</a:t>
            </a:r>
          </a:p>
          <a:p>
            <a:pPr lvl="0" algn="ctr">
              <a:lnSpc>
                <a:spcPct val="141100"/>
              </a:lnSpc>
            </a:pPr>
            <a:r>
              <a:rPr lang="en-US" sz="2466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·  폰트는 프리텐다드 레귤러, 크기는 19pt 입니다.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4300" y="5207000"/>
            <a:ext cx="6375400" cy="4089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5700" y="5092700"/>
            <a:ext cx="914400" cy="9144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8737600" y="5283200"/>
            <a:ext cx="1003300" cy="5080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B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118600" y="9652000"/>
            <a:ext cx="6121400" cy="558800"/>
          </a:xfrm>
          <a:prstGeom prst="rect">
            <a:avLst/>
          </a:prstGeom>
        </p:spPr>
        <p:txBody>
          <a:bodyPr lIns="0" tIns="37252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33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핵심 키워드를 입력해주세요.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18600" y="10375900"/>
            <a:ext cx="6121400" cy="381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8953500" y="10642600"/>
            <a:ext cx="6438900" cy="1003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41100"/>
              </a:lnSpc>
            </a:pPr>
            <a:r>
              <a:rPr lang="en-US" sz="2466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·  주제에 대한 세부내용을 간략하게 입력해주세요.</a:t>
            </a:r>
          </a:p>
          <a:p>
            <a:pPr lvl="0" algn="ctr">
              <a:lnSpc>
                <a:spcPct val="141100"/>
              </a:lnSpc>
            </a:pPr>
            <a:r>
              <a:rPr lang="en-US" sz="2466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·  폰트는 프리텐다드 레귤러, 크기는 19pt 입니다.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49600" y="5207000"/>
            <a:ext cx="6375400" cy="40894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646400" y="5092700"/>
            <a:ext cx="914400" cy="9144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5595600" y="5283200"/>
            <a:ext cx="1003300" cy="5080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963900" y="9652000"/>
            <a:ext cx="6121400" cy="558800"/>
          </a:xfrm>
          <a:prstGeom prst="rect">
            <a:avLst/>
          </a:prstGeom>
        </p:spPr>
        <p:txBody>
          <a:bodyPr lIns="0" tIns="37252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33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핵심 키워드를 입력해주세요.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963900" y="10375900"/>
            <a:ext cx="6121400" cy="381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15798800" y="10642600"/>
            <a:ext cx="6438900" cy="1003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41100"/>
              </a:lnSpc>
            </a:pPr>
            <a:r>
              <a:rPr lang="en-US" sz="2466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·  주제에 대한 세부내용을 간략하게 입력해주세요.</a:t>
            </a:r>
          </a:p>
          <a:p>
            <a:pPr lvl="0" algn="ctr">
              <a:lnSpc>
                <a:spcPct val="141100"/>
              </a:lnSpc>
            </a:pPr>
            <a:r>
              <a:rPr lang="en-US" sz="2466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·  폰트는 프리텐다드 레귤러, 크기는 19pt 입니다.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045200" y="3378200"/>
            <a:ext cx="12306300" cy="1308100"/>
          </a:xfrm>
          <a:prstGeom prst="rect">
            <a:avLst/>
          </a:prstGeom>
        </p:spPr>
        <p:txBody>
          <a:bodyPr lIns="0" tIns="45719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7198" b="0" i="0" u="none" strike="noStrike">
                <a:solidFill>
                  <a:srgbClr val="595959"/>
                </a:solidFill>
                <a:latin typeface="SB AggroOTF Medium"/>
                <a:ea typeface="SB AggroOTF Medium"/>
                <a:cs typeface="SB AggroOTF Medium"/>
              </a:rPr>
              <a:t>3가지 사진</a:t>
            </a:r>
            <a:r>
              <a:rPr lang="en-US" sz="7198" b="0" i="0" u="none" strike="noStrike">
                <a:solidFill>
                  <a:srgbClr val="787878"/>
                </a:solidFill>
                <a:latin typeface="SB AggroOTF Medium"/>
                <a:ea typeface="SB AggroOTF Medium"/>
                <a:cs typeface="SB AggroOTF Medium"/>
              </a:rPr>
              <a:t>이 있는 레이아웃</a:t>
            </a:r>
          </a:p>
        </p:txBody>
      </p:sp>
    </p:spTree>
    <p:extLst>
      <p:ext uri="{BB962C8B-B14F-4D97-AF65-F5344CB8AC3E}">
        <p14:creationId xmlns:p14="http://schemas.microsoft.com/office/powerpoint/2010/main" val="31257391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" y="990600"/>
            <a:ext cx="22212300" cy="11925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12280900"/>
            <a:ext cx="23037800" cy="77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260600"/>
            <a:ext cx="21628100" cy="381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562100" y="1600200"/>
            <a:ext cx="3822700" cy="381000"/>
          </a:xfrm>
          <a:prstGeom prst="rect">
            <a:avLst/>
          </a:prstGeom>
        </p:spPr>
        <p:txBody>
          <a:bodyPr lIns="0" tIns="127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altLang="ko-KR" sz="1999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NILM-NALM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5194300"/>
            <a:ext cx="3835400" cy="5994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1400" y="10388600"/>
            <a:ext cx="787400" cy="241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2200" y="7556500"/>
            <a:ext cx="3213100" cy="381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895600" y="5765800"/>
            <a:ext cx="2159000" cy="431800"/>
          </a:xfrm>
          <a:prstGeom prst="rect">
            <a:avLst/>
          </a:prstGeom>
        </p:spPr>
        <p:txBody>
          <a:bodyPr lIns="0" tIns="28786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266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STEP 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52700" y="6794500"/>
            <a:ext cx="2832100" cy="571500"/>
          </a:xfrm>
          <a:prstGeom prst="rect">
            <a:avLst/>
          </a:prstGeom>
        </p:spPr>
        <p:txBody>
          <a:bodyPr lIns="0" tIns="38946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06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프로세스 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86000" y="7861300"/>
            <a:ext cx="3365500" cy="182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399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주제에 대한 세부내용을 간략하게 입력해주세요. 폰트는 프리텐다드 레귤러이고 크기는 18pt 입니다.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9500" y="5194300"/>
            <a:ext cx="3835400" cy="5994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3500" y="10388600"/>
            <a:ext cx="787400" cy="2413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7556500"/>
            <a:ext cx="3200400" cy="381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6997700" y="5765800"/>
            <a:ext cx="2159000" cy="431800"/>
          </a:xfrm>
          <a:prstGeom prst="rect">
            <a:avLst/>
          </a:prstGeom>
        </p:spPr>
        <p:txBody>
          <a:bodyPr lIns="0" tIns="28786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266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STEP 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667500" y="6794500"/>
            <a:ext cx="2832100" cy="571500"/>
          </a:xfrm>
          <a:prstGeom prst="rect">
            <a:avLst/>
          </a:prstGeom>
        </p:spPr>
        <p:txBody>
          <a:bodyPr lIns="0" tIns="38946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06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프로세스 B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337300" y="7861300"/>
            <a:ext cx="3479800" cy="182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399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주제에 대한 세부내용을 간략하게 입력해주세요. 폰트는 프리텐다드 레귤러이고 크기는 18pt 입니다.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74300" y="5194300"/>
            <a:ext cx="3835400" cy="59944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98300" y="10388600"/>
            <a:ext cx="787400" cy="2413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91800" y="7556500"/>
            <a:ext cx="3200400" cy="381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1112500" y="5765800"/>
            <a:ext cx="2159000" cy="431800"/>
          </a:xfrm>
          <a:prstGeom prst="rect">
            <a:avLst/>
          </a:prstGeom>
        </p:spPr>
        <p:txBody>
          <a:bodyPr lIns="0" tIns="28786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266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STEP 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769600" y="6794500"/>
            <a:ext cx="2832100" cy="571500"/>
          </a:xfrm>
          <a:prstGeom prst="rect">
            <a:avLst/>
          </a:prstGeom>
        </p:spPr>
        <p:txBody>
          <a:bodyPr lIns="0" tIns="38946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06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프로세스 C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502900" y="7861300"/>
            <a:ext cx="3365500" cy="182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399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주제에 대한 세부내용을 간략하게 입력해주세요. 폰트는 프리텐다드 레귤러이고 크기는 18pt 입니다.</a:t>
            </a: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389100" y="5194300"/>
            <a:ext cx="3835400" cy="59944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13100" y="10388600"/>
            <a:ext cx="787400" cy="2413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706600" y="7556500"/>
            <a:ext cx="3200400" cy="3810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15227300" y="5765800"/>
            <a:ext cx="2159000" cy="431800"/>
          </a:xfrm>
          <a:prstGeom prst="rect">
            <a:avLst/>
          </a:prstGeom>
        </p:spPr>
        <p:txBody>
          <a:bodyPr lIns="0" tIns="28786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266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STEP 4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884400" y="6794500"/>
            <a:ext cx="2832100" cy="571500"/>
          </a:xfrm>
          <a:prstGeom prst="rect">
            <a:avLst/>
          </a:prstGeom>
        </p:spPr>
        <p:txBody>
          <a:bodyPr lIns="0" tIns="38946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06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프로세스 D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617700" y="7861300"/>
            <a:ext cx="3365500" cy="182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399" b="0" i="0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주제에 대한 세부내용을 간략하게 입력해주세요. 폰트는 프리텐다드 레귤러이고 크기는 18pt 입니다.</a:t>
            </a: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491200" y="5194300"/>
            <a:ext cx="3835400" cy="59944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808700" y="7556500"/>
            <a:ext cx="3200400" cy="38100"/>
          </a:xfrm>
          <a:prstGeom prst="rect">
            <a:avLst/>
          </a:prstGeom>
        </p:spPr>
      </p:pic>
      <p:sp>
        <p:nvSpPr>
          <p:cNvPr id="35" name="TextBox 35"/>
          <p:cNvSpPr txBox="1"/>
          <p:nvPr/>
        </p:nvSpPr>
        <p:spPr>
          <a:xfrm>
            <a:off x="19329400" y="5791200"/>
            <a:ext cx="2159000" cy="431800"/>
          </a:xfrm>
          <a:prstGeom prst="rect">
            <a:avLst/>
          </a:prstGeom>
        </p:spPr>
        <p:txBody>
          <a:bodyPr lIns="0" tIns="28786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266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STEP 5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8999200" y="6819900"/>
            <a:ext cx="2832100" cy="571500"/>
          </a:xfrm>
          <a:prstGeom prst="rect">
            <a:avLst/>
          </a:prstGeom>
        </p:spPr>
        <p:txBody>
          <a:bodyPr lIns="0" tIns="38946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066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프로세스 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8732500" y="7861300"/>
            <a:ext cx="3365500" cy="182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399" b="0" i="0" u="none" strike="noStrike">
                <a:solidFill>
                  <a:srgbClr val="EEEEEE"/>
                </a:solidFill>
                <a:latin typeface="Pretendard Regular"/>
                <a:ea typeface="Pretendard Regular"/>
                <a:cs typeface="Pretendard Regular"/>
              </a:rPr>
              <a:t>주제에 대한 세부내용을 간략하게 입력해주세요. 폰트는 프리텐다드 레귤러이고 크기는 18pt 입니다.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045200" y="3378200"/>
            <a:ext cx="12306300" cy="1308100"/>
          </a:xfrm>
          <a:prstGeom prst="rect">
            <a:avLst/>
          </a:prstGeom>
        </p:spPr>
        <p:txBody>
          <a:bodyPr lIns="0" tIns="45719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7198" b="0" i="0" u="none" strike="noStrike">
                <a:solidFill>
                  <a:srgbClr val="595959"/>
                </a:solidFill>
                <a:latin typeface="SB AggroOTF Medium"/>
                <a:ea typeface="SB AggroOTF Medium"/>
                <a:cs typeface="SB AggroOTF Medium"/>
              </a:rPr>
              <a:t>프로세스 </a:t>
            </a:r>
            <a:r>
              <a:rPr lang="en-US" sz="7198" b="0" i="0" u="none" strike="noStrike">
                <a:solidFill>
                  <a:srgbClr val="787878"/>
                </a:solidFill>
                <a:latin typeface="SB AggroOTF Medium"/>
                <a:ea typeface="SB AggroOTF Medium"/>
                <a:cs typeface="SB AggroOTF Medium"/>
              </a:rPr>
              <a:t>레이아웃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D698DC4F-172E-4CB7-8E95-2BD1CCC1543B}"/>
              </a:ext>
            </a:extLst>
          </p:cNvPr>
          <p:cNvSpPr/>
          <p:nvPr/>
        </p:nvSpPr>
        <p:spPr>
          <a:xfrm>
            <a:off x="1371600" y="2336800"/>
            <a:ext cx="2819400" cy="1193800"/>
          </a:xfrm>
          <a:prstGeom prst="roundRect">
            <a:avLst/>
          </a:prstGeom>
          <a:solidFill>
            <a:srgbClr val="EEEEEE"/>
          </a:solidFill>
          <a:ln>
            <a:solidFill>
              <a:srgbClr val="B7B7B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6196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1062</Words>
  <Application>Microsoft Office PowerPoint</Application>
  <PresentationFormat>사용자 지정</PresentationFormat>
  <Paragraphs>269</Paragraphs>
  <Slides>26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7" baseType="lpstr">
      <vt:lpstr>Pretendard SemiBold</vt:lpstr>
      <vt:lpstr>맑은 고딕</vt:lpstr>
      <vt:lpstr>Noto Sans KR Black</vt:lpstr>
      <vt:lpstr>Arial</vt:lpstr>
      <vt:lpstr>Noto Sans KR</vt:lpstr>
      <vt:lpstr>Calibri</vt:lpstr>
      <vt:lpstr>SB AggroOTF Medium</vt:lpstr>
      <vt:lpstr>Noto Sans KR Medium</vt:lpstr>
      <vt:lpstr>Pretendard Bold</vt:lpstr>
      <vt:lpstr>Pretendard Regular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SSAFY</cp:lastModifiedBy>
  <cp:revision>47</cp:revision>
  <dcterms:created xsi:type="dcterms:W3CDTF">2006-08-16T00:00:00Z</dcterms:created>
  <dcterms:modified xsi:type="dcterms:W3CDTF">2026-09-03T08:51:44Z</dcterms:modified>
</cp:coreProperties>
</file>